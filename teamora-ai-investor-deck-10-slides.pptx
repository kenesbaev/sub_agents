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3" r:id="rId14"/>
    <p:sldId id="264" r:id="rId15"/>
    <p:sldId id="265" r:id="rId16"/>
    <p:sldId id="267" r:id="rId18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2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572768" cy="283464"/>
          </a:xfrm>
          <a:prstGeom prst="roundRect">
            <a:avLst>
              <a:gd name="adj" fmla="val 12000"/>
            </a:avLst>
          </a:prstGeom>
          <a:solidFill>
            <a:srgbClr val="102A42">
              <a:alpha val="52000"/>
            </a:srgbClr>
          </a:solidFill>
          <a:ln w="10160">
            <a:solidFill>
              <a:srgbClr val="0C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76072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5D6D2"/>
                </a:solidFill>
                <a:latin typeface="Aptos"/>
              </a:rPr>
              <a:t>INVESTOR DECK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3808" y="603504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7FBFF"/>
                </a:solidFill>
                <a:latin typeface="Aptos"/>
              </a:rPr>
              <a:t>TEAMORA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99032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7FBFF"/>
                </a:solidFill>
                <a:latin typeface="Aptos Display"/>
              </a:rPr>
              <a:t>AI-команда, которая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29968"/>
            <a:ext cx="6126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25D6D2"/>
                </a:solidFill>
                <a:latin typeface="Aptos Display"/>
              </a:rPr>
              <a:t>выполняет работу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0088"/>
            <a:ext cx="51663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2A8BC"/>
                </a:solidFill>
                <a:latin typeface="Aptos"/>
              </a:rPr>
              <a:t>Подключает рабочие сервисы, распределяет задачи между AI-ролями и показывает владельцу результат.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87368"/>
            <a:ext cx="1325880" cy="310896"/>
          </a:xfrm>
          <a:prstGeom prst="roundRect">
            <a:avLst>
              <a:gd name="adj" fmla="val 12000"/>
            </a:avLst>
          </a:prstGeom>
          <a:solidFill>
            <a:srgbClr val="102A42">
              <a:alpha val="52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96511"/>
            <a:ext cx="13258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7FBFF"/>
                </a:solidFill>
                <a:latin typeface="Aptos"/>
              </a:rPr>
              <a:t>SMB AI OFFICE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2264" y="4087368"/>
            <a:ext cx="1490472" cy="310896"/>
          </a:xfrm>
          <a:prstGeom prst="roundRect">
            <a:avLst>
              <a:gd name="adj" fmla="val 12000"/>
            </a:avLst>
          </a:prstGeom>
          <a:solidFill>
            <a:srgbClr val="102A42">
              <a:alpha val="52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12264" y="4096511"/>
            <a:ext cx="149047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7FBFF"/>
                </a:solidFill>
                <a:latin typeface="Aptos"/>
              </a:rPr>
              <a:t>HUMAN APPROVAL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7909559" y="1719072"/>
            <a:ext cx="978409" cy="1892808"/>
          </a:xfrm>
          <a:prstGeom prst="line">
            <a:avLst/>
          </a:prstGeom>
          <a:ln w="1587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342631" y="1417320"/>
            <a:ext cx="603504" cy="603504"/>
          </a:xfrm>
          <a:prstGeom prst="ellipse">
            <a:avLst/>
          </a:prstGeom>
          <a:solidFill>
            <a:srgbClr val="081A2B">
              <a:alpha val="56000"/>
            </a:srgbClr>
          </a:solidFill>
          <a:ln w="1905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2631" y="1426464"/>
            <a:ext cx="6035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5D6D2"/>
                </a:solidFill>
                <a:latin typeface="Aptos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5" y="211226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92A8BC"/>
                </a:solidFill>
                <a:latin typeface="Aptos"/>
              </a:rPr>
              <a:t>MARKETING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887968" y="1600200"/>
            <a:ext cx="1261872" cy="2011680"/>
          </a:xfrm>
          <a:prstGeom prst="line">
            <a:avLst/>
          </a:prstGeom>
          <a:ln w="1587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582912" y="1298448"/>
            <a:ext cx="603504" cy="603504"/>
          </a:xfrm>
          <a:prstGeom prst="ellipse">
            <a:avLst/>
          </a:prstGeom>
          <a:solidFill>
            <a:srgbClr val="081A2B">
              <a:alpha val="56000"/>
            </a:srgbClr>
          </a:solidFill>
          <a:ln w="1905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2912" y="1307592"/>
            <a:ext cx="6035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D7CFF"/>
                </a:solidFill>
                <a:latin typeface="Aptos"/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993391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92A8BC"/>
                </a:solidFill>
                <a:latin typeface="Aptos"/>
              </a:rPr>
              <a:t>SALES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8887968" y="3364992"/>
            <a:ext cx="2231135" cy="246888"/>
          </a:xfrm>
          <a:prstGeom prst="line">
            <a:avLst/>
          </a:prstGeom>
          <a:ln w="1587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552176" y="3063240"/>
            <a:ext cx="603504" cy="603504"/>
          </a:xfrm>
          <a:prstGeom prst="ellipse">
            <a:avLst/>
          </a:prstGeom>
          <a:solidFill>
            <a:srgbClr val="081A2B">
              <a:alpha val="56000"/>
            </a:srgbClr>
          </a:solidFill>
          <a:ln w="19050">
            <a:solidFill>
              <a:srgbClr val="8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52176" y="3072384"/>
            <a:ext cx="6035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6DFF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9" y="375818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92A8BC"/>
                </a:solidFill>
                <a:latin typeface="Aptos"/>
              </a:rPr>
              <a:t>SUPPORT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87968" y="3611880"/>
            <a:ext cx="1152143" cy="1700784"/>
          </a:xfrm>
          <a:prstGeom prst="line">
            <a:avLst/>
          </a:prstGeom>
          <a:ln w="1587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473184" y="5010912"/>
            <a:ext cx="603504" cy="603504"/>
          </a:xfrm>
          <a:prstGeom prst="ellipse">
            <a:avLst/>
          </a:prstGeom>
          <a:solidFill>
            <a:srgbClr val="081A2B">
              <a:alpha val="56000"/>
            </a:srgbClr>
          </a:solidFill>
          <a:ln w="1905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73184" y="5020056"/>
            <a:ext cx="6035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9F06A"/>
                </a:solidFill>
                <a:latin typeface="Aptos"/>
              </a:rPr>
              <a:t>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570585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92A8BC"/>
                </a:solidFill>
                <a:latin typeface="Aptos"/>
              </a:rPr>
              <a:t>RESEARCH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680960" y="3611880"/>
            <a:ext cx="1207008" cy="1481328"/>
          </a:xfrm>
          <a:prstGeom prst="line">
            <a:avLst/>
          </a:prstGeom>
          <a:ln w="1587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114032" y="4791456"/>
            <a:ext cx="603504" cy="603504"/>
          </a:xfrm>
          <a:prstGeom prst="ellipse">
            <a:avLst/>
          </a:prstGeom>
          <a:solidFill>
            <a:srgbClr val="081A2B">
              <a:alpha val="56000"/>
            </a:srgbClr>
          </a:solidFill>
          <a:ln w="1905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032" y="4800600"/>
            <a:ext cx="6035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C95D"/>
                </a:solidFill>
                <a:latin typeface="Aptos"/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548640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92A8BC"/>
                </a:solidFill>
                <a:latin typeface="Aptos"/>
              </a:rPr>
              <a:t>AUTOMATION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0" y="2953512"/>
            <a:ext cx="1316736" cy="1316736"/>
          </a:xfrm>
          <a:prstGeom prst="ellipse">
            <a:avLst/>
          </a:prstGeom>
          <a:solidFill>
            <a:srgbClr val="0C737D">
              <a:alpha val="72000"/>
            </a:srgbClr>
          </a:solidFill>
          <a:ln w="2286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03336" y="3127248"/>
            <a:ext cx="969264" cy="969264"/>
          </a:xfrm>
          <a:prstGeom prst="ellipse">
            <a:avLst/>
          </a:prstGeom>
          <a:solidFill>
            <a:srgbClr val="0B2033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03336" y="3429000"/>
            <a:ext cx="969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7FBFF"/>
                </a:solidFill>
                <a:latin typeface="Aptos"/>
              </a:rPr>
              <a:t>TEAMORA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370332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25D6D2"/>
                </a:solidFill>
                <a:latin typeface="Aptos"/>
              </a:rPr>
              <a:t>COORDINATOR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62453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6F879C"/>
                </a:solidFill>
                <a:latin typeface="Aptos"/>
              </a:rPr>
              <a:t>teamora.ai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ТЕЗИС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От запроса — к выполненной работе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1938528"/>
            <a:ext cx="4892040" cy="3310128"/>
          </a:xfrm>
          <a:prstGeom prst="ellipse">
            <a:avLst/>
          </a:prstGeom>
          <a:solidFill>
            <a:srgbClr val="0B2033">
              <a:alpha val="0"/>
            </a:srgbClr>
          </a:solidFill>
          <a:ln w="1905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13832" y="1938528"/>
            <a:ext cx="4892040" cy="3310128"/>
          </a:xfrm>
          <a:prstGeom prst="ellipse">
            <a:avLst/>
          </a:prstGeom>
          <a:solidFill>
            <a:srgbClr val="0B2033">
              <a:alpha val="0"/>
            </a:srgbClr>
          </a:solidFill>
          <a:ln w="1905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4846320" y="2697480"/>
            <a:ext cx="2487168" cy="1508760"/>
          </a:xfrm>
          <a:prstGeom prst="hexagon">
            <a:avLst/>
          </a:prstGeom>
          <a:solidFill>
            <a:srgbClr val="0B2033">
              <a:alpha val="62000"/>
            </a:srgbClr>
          </a:solidFill>
          <a:ln w="1397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3017520"/>
            <a:ext cx="17556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BFF"/>
                </a:solidFill>
                <a:latin typeface="Aptos"/>
              </a:rPr>
              <a:t>TEAMORA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429000"/>
            <a:ext cx="1755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25D6D2"/>
                </a:solidFill>
                <a:latin typeface="Aptos"/>
              </a:rPr>
              <a:t>COORDINATOR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1901952"/>
            <a:ext cx="713232" cy="713232"/>
          </a:xfrm>
          <a:prstGeom prst="ellipse">
            <a:avLst/>
          </a:prstGeom>
          <a:solidFill>
            <a:srgbClr val="0B2033">
              <a:alpha val="58000"/>
            </a:srgbClr>
          </a:solidFill>
          <a:ln w="1778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1911095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D6D2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39" y="1920240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D6D2"/>
                </a:solidFill>
                <a:latin typeface="Aptos"/>
              </a:rPr>
              <a:t>ЦЕЛЬ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39" y="2212848"/>
            <a:ext cx="16642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F7FBFF"/>
                </a:solidFill>
                <a:latin typeface="Aptos"/>
              </a:rPr>
              <a:t>Нужный результат</a:t>
            </a:r>
          </a:p>
        </p:txBody>
      </p:sp>
      <p:sp>
        <p:nvSpPr>
          <p:cNvPr id="18" name="Oval 17"/>
          <p:cNvSpPr/>
          <p:nvPr/>
        </p:nvSpPr>
        <p:spPr>
          <a:xfrm>
            <a:off x="2926080" y="4645152"/>
            <a:ext cx="713232" cy="713232"/>
          </a:xfrm>
          <a:prstGeom prst="ellipse">
            <a:avLst/>
          </a:prstGeom>
          <a:solidFill>
            <a:srgbClr val="0B2033">
              <a:alpha val="58000"/>
            </a:srgbClr>
          </a:solidFill>
          <a:ln w="1778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4654296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D7CFF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663440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7CFF"/>
                </a:solidFill>
                <a:latin typeface="Aptos"/>
              </a:rPr>
              <a:t>ПЛАН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956048"/>
            <a:ext cx="16642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F7FBFF"/>
                </a:solidFill>
                <a:latin typeface="Aptos"/>
              </a:rPr>
              <a:t>Роли и шаги</a:t>
            </a:r>
          </a:p>
        </p:txBody>
      </p:sp>
      <p:sp>
        <p:nvSpPr>
          <p:cNvPr id="22" name="Oval 21"/>
          <p:cNvSpPr/>
          <p:nvPr/>
        </p:nvSpPr>
        <p:spPr>
          <a:xfrm>
            <a:off x="8458200" y="1901952"/>
            <a:ext cx="713232" cy="713232"/>
          </a:xfrm>
          <a:prstGeom prst="ellipse">
            <a:avLst/>
          </a:prstGeom>
          <a:solidFill>
            <a:srgbClr val="0B2033">
              <a:alpha val="58000"/>
            </a:srgbClr>
          </a:solidFill>
          <a:ln w="17780">
            <a:solidFill>
              <a:srgbClr val="8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911095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6DFF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920240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B6DFF"/>
                </a:solidFill>
                <a:latin typeface="Aptos"/>
              </a:rPr>
              <a:t>РАБОТА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212848"/>
            <a:ext cx="16642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F7FBFF"/>
                </a:solidFill>
                <a:latin typeface="Aptos"/>
              </a:rPr>
              <a:t>Действия в сервисах</a:t>
            </a:r>
          </a:p>
        </p:txBody>
      </p:sp>
      <p:sp>
        <p:nvSpPr>
          <p:cNvPr id="26" name="Oval 25"/>
          <p:cNvSpPr/>
          <p:nvPr/>
        </p:nvSpPr>
        <p:spPr>
          <a:xfrm>
            <a:off x="9857232" y="4590288"/>
            <a:ext cx="713232" cy="713232"/>
          </a:xfrm>
          <a:prstGeom prst="ellipse">
            <a:avLst/>
          </a:prstGeom>
          <a:solidFill>
            <a:srgbClr val="0B2033">
              <a:alpha val="58000"/>
            </a:srgbClr>
          </a:solidFill>
          <a:ln w="1778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7232" y="4599431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F06A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4608575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9F06A"/>
                </a:solidFill>
                <a:latin typeface="Aptos"/>
              </a:rPr>
              <a:t>КОНТРОЛЬ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2712" y="4901183"/>
            <a:ext cx="16642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F7FBFF"/>
                </a:solidFill>
                <a:latin typeface="Aptos"/>
              </a:rPr>
              <a:t>Статус + approval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5806440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2A8BC"/>
                </a:solidFill>
                <a:latin typeface="Aptos"/>
              </a:rPr>
              <a:t>Цель  →  роли  →  действия  →  результат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Владелец всё ещё остаётся диспетчером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17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92A8BC"/>
                </a:solidFill>
                <a:latin typeface="Aptos"/>
              </a:rPr>
              <a:t>Чаты, таблицы и подрядчики не становятся единой системой.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2057400"/>
            <a:ext cx="2395728" cy="2395728"/>
          </a:xfrm>
          <a:prstGeom prst="ellipse">
            <a:avLst/>
          </a:prstGeom>
          <a:solidFill>
            <a:srgbClr val="0B2033">
              <a:alpha val="42000"/>
            </a:srgbClr>
          </a:solidFill>
          <a:ln w="15875">
            <a:solidFill>
              <a:srgbClr val="FF7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267712"/>
            <a:ext cx="1975104" cy="1975104"/>
          </a:xfrm>
          <a:prstGeom prst="ellipse">
            <a:avLst/>
          </a:prstGeom>
          <a:solidFill>
            <a:srgbClr val="061321">
              <a:alpha val="34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38658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7182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852928"/>
            <a:ext cx="17922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BFF"/>
                </a:solidFill>
                <a:latin typeface="Aptos Display"/>
              </a:rPr>
              <a:t>Контекст
теряется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21608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92A8BC"/>
                </a:solidFill>
                <a:latin typeface="Aptos"/>
              </a:rPr>
              <a:t>Одну задачу приходится объяснять снова.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816352" y="2011680"/>
            <a:ext cx="612648" cy="365760"/>
          </a:xfrm>
          <a:prstGeom prst="line">
            <a:avLst/>
          </a:prstGeom>
          <a:ln w="12700">
            <a:solidFill>
              <a:srgbClr val="FF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926079" y="2459736"/>
            <a:ext cx="585217" cy="73152"/>
          </a:xfrm>
          <a:prstGeom prst="line">
            <a:avLst/>
          </a:prstGeom>
          <a:ln w="10160">
            <a:solidFill>
              <a:srgbClr val="FF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910328" y="2057400"/>
            <a:ext cx="2395728" cy="2395728"/>
          </a:xfrm>
          <a:prstGeom prst="ellipse">
            <a:avLst/>
          </a:prstGeom>
          <a:solidFill>
            <a:srgbClr val="0B2033">
              <a:alpha val="42000"/>
            </a:srgbClr>
          </a:solidFill>
          <a:ln w="15875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20640" y="2267712"/>
            <a:ext cx="1975104" cy="1975104"/>
          </a:xfrm>
          <a:prstGeom prst="ellipse">
            <a:avLst/>
          </a:prstGeom>
          <a:solidFill>
            <a:srgbClr val="061321">
              <a:alpha val="34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38658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4C95D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852928"/>
            <a:ext cx="17922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BFF"/>
                </a:solidFill>
                <a:latin typeface="Aptos Display"/>
              </a:rPr>
              <a:t>Работа ждёт
владельца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721608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92A8BC"/>
                </a:solidFill>
                <a:latin typeface="Aptos"/>
              </a:rPr>
              <a:t>Маркетинг и follow-up идут нерегулярно.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885432" y="2011680"/>
            <a:ext cx="612647" cy="365760"/>
          </a:xfrm>
          <a:prstGeom prst="line">
            <a:avLst/>
          </a:prstGeom>
          <a:ln w="12700">
            <a:solidFill>
              <a:srgbClr val="F4C9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995160" y="2459736"/>
            <a:ext cx="585215" cy="73152"/>
          </a:xfrm>
          <a:prstGeom prst="line">
            <a:avLst/>
          </a:prstGeom>
          <a:ln w="10160">
            <a:solidFill>
              <a:srgbClr val="F4C9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979408" y="2057400"/>
            <a:ext cx="2395728" cy="2395728"/>
          </a:xfrm>
          <a:prstGeom prst="ellipse">
            <a:avLst/>
          </a:prstGeom>
          <a:solidFill>
            <a:srgbClr val="0B2033">
              <a:alpha val="42000"/>
            </a:srgbClr>
          </a:solidFill>
          <a:ln w="15875">
            <a:solidFill>
              <a:srgbClr val="8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89720" y="2267712"/>
            <a:ext cx="1975104" cy="1975104"/>
          </a:xfrm>
          <a:prstGeom prst="ellipse">
            <a:avLst/>
          </a:prstGeom>
          <a:solidFill>
            <a:srgbClr val="061321">
              <a:alpha val="34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238658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B6DFF"/>
                </a:solidFill>
                <a:latin typeface="Apto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852928"/>
            <a:ext cx="17922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BFF"/>
                </a:solidFill>
                <a:latin typeface="Aptos Display"/>
              </a:rPr>
              <a:t>Статус
не виден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721608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92A8BC"/>
                </a:solidFill>
                <a:latin typeface="Aptos"/>
              </a:rPr>
              <a:t>Непонятно, что готово и где нужен ответ.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0954512" y="2011680"/>
            <a:ext cx="612648" cy="365760"/>
          </a:xfrm>
          <a:prstGeom prst="line">
            <a:avLst/>
          </a:prstGeom>
          <a:ln w="12700">
            <a:solidFill>
              <a:srgbClr val="8B6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064240" y="2459736"/>
            <a:ext cx="585216" cy="73152"/>
          </a:xfrm>
          <a:prstGeom prst="line">
            <a:avLst/>
          </a:prstGeom>
          <a:ln w="10160">
            <a:solidFill>
              <a:srgbClr val="8B6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9536" y="5239512"/>
            <a:ext cx="10469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BFF"/>
                </a:solidFill>
                <a:latin typeface="Aptos"/>
              </a:rPr>
              <a:t>Больше инструментов </a:t>
            </a:r>
            <a:r>
              <a:rPr sz="1800" b="1">
                <a:solidFill>
                  <a:srgbClr val="FF7182"/>
                </a:solidFill>
                <a:latin typeface="Aptos"/>
              </a:rPr>
              <a:t>≠</a:t>
            </a:r>
            <a:r>
              <a:rPr sz="1800" b="1">
                <a:solidFill>
                  <a:srgbClr val="F7FBFF"/>
                </a:solidFill>
                <a:latin typeface="Aptos"/>
              </a:rPr>
              <a:t> меньше ручной координации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AI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Весь AI-офис — в одном пространстве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645920"/>
            <a:ext cx="3154680" cy="786384"/>
          </a:xfrm>
          <a:prstGeom prst="roundRect">
            <a:avLst>
              <a:gd name="adj" fmla="val 12000"/>
            </a:avLst>
          </a:prstGeom>
          <a:solidFill>
            <a:srgbClr val="0B2033">
              <a:alpha val="46000"/>
            </a:srgbClr>
          </a:solidFill>
          <a:ln w="1270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94944" y="1773936"/>
            <a:ext cx="768096" cy="0"/>
          </a:xfrm>
          <a:prstGeom prst="line">
            <a:avLst/>
          </a:prstGeom>
          <a:ln w="25400">
            <a:solidFill>
              <a:srgbClr val="25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56432" y="1746504"/>
            <a:ext cx="73152" cy="73152"/>
          </a:xfrm>
          <a:prstGeom prst="ellipse">
            <a:avLst/>
          </a:prstGeom>
          <a:solidFill>
            <a:srgbClr val="25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84708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5D6D2"/>
                </a:solidFill>
                <a:latin typeface="Aptos"/>
              </a:rPr>
              <a:t>COORDINATOR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178308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7FBFF"/>
                </a:solidFill>
                <a:latin typeface="Aptos"/>
              </a:rPr>
              <a:t>Понимает цель и строит план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85032" y="2039112"/>
            <a:ext cx="320040" cy="0"/>
          </a:xfrm>
          <a:prstGeom prst="line">
            <a:avLst/>
          </a:prstGeom>
          <a:ln w="12700">
            <a:solidFill>
              <a:srgbClr val="25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0352" y="2633472"/>
            <a:ext cx="3154680" cy="786384"/>
          </a:xfrm>
          <a:prstGeom prst="roundRect">
            <a:avLst>
              <a:gd name="adj" fmla="val 12000"/>
            </a:avLst>
          </a:prstGeom>
          <a:solidFill>
            <a:srgbClr val="0B2033">
              <a:alpha val="46000"/>
            </a:srgbClr>
          </a:solidFill>
          <a:ln w="1270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94944" y="2761488"/>
            <a:ext cx="768096" cy="0"/>
          </a:xfrm>
          <a:prstGeom prst="line">
            <a:avLst/>
          </a:prstGeom>
          <a:ln w="25400">
            <a:solidFill>
              <a:srgbClr val="5D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456432" y="2734056"/>
            <a:ext cx="73152" cy="73152"/>
          </a:xfrm>
          <a:prstGeom prst="ellipse">
            <a:avLst/>
          </a:prstGeom>
          <a:solidFill>
            <a:srgbClr val="5D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834640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5D7CFF"/>
                </a:solidFill>
                <a:latin typeface="Aptos"/>
              </a:rPr>
              <a:t>SPECIALISTS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2770632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7FBFF"/>
                </a:solidFill>
                <a:latin typeface="Aptos"/>
              </a:rPr>
              <a:t>Marketing, Sales, Support и Research работают параллельно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85032" y="3026664"/>
            <a:ext cx="320040" cy="0"/>
          </a:xfrm>
          <a:prstGeom prst="line">
            <a:avLst/>
          </a:prstGeom>
          <a:ln w="12700">
            <a:solidFill>
              <a:srgbClr val="5D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0352" y="3621024"/>
            <a:ext cx="3154680" cy="786384"/>
          </a:xfrm>
          <a:prstGeom prst="roundRect">
            <a:avLst>
              <a:gd name="adj" fmla="val 12000"/>
            </a:avLst>
          </a:prstGeom>
          <a:solidFill>
            <a:srgbClr val="0B2033">
              <a:alpha val="46000"/>
            </a:srgbClr>
          </a:solidFill>
          <a:ln w="12700">
            <a:solidFill>
              <a:srgbClr val="8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94944" y="3749039"/>
            <a:ext cx="768096" cy="0"/>
          </a:xfrm>
          <a:prstGeom prst="line">
            <a:avLst/>
          </a:prstGeom>
          <a:ln w="25400">
            <a:solidFill>
              <a:srgbClr val="8B6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456432" y="3721608"/>
            <a:ext cx="73152" cy="73152"/>
          </a:xfrm>
          <a:prstGeom prst="ellipse">
            <a:avLst/>
          </a:prstGeom>
          <a:solidFill>
            <a:srgbClr val="8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822191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8B6DFF"/>
                </a:solidFill>
                <a:latin typeface="Aptos"/>
              </a:rPr>
              <a:t>INTEGRATIONS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3758184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7FBFF"/>
                </a:solidFill>
                <a:latin typeface="Aptos"/>
              </a:rPr>
              <a:t>Действия выполняются в подключённых сервисах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85032" y="4014215"/>
            <a:ext cx="320040" cy="0"/>
          </a:xfrm>
          <a:prstGeom prst="line">
            <a:avLst/>
          </a:prstGeom>
          <a:ln w="12700">
            <a:solidFill>
              <a:srgbClr val="8B6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30352" y="4608576"/>
            <a:ext cx="3154680" cy="786384"/>
          </a:xfrm>
          <a:prstGeom prst="roundRect">
            <a:avLst>
              <a:gd name="adj" fmla="val 12000"/>
            </a:avLst>
          </a:prstGeom>
          <a:solidFill>
            <a:srgbClr val="0B2033">
              <a:alpha val="46000"/>
            </a:srgbClr>
          </a:solidFill>
          <a:ln w="1270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94944" y="4736592"/>
            <a:ext cx="768096" cy="0"/>
          </a:xfrm>
          <a:prstGeom prst="line">
            <a:avLst/>
          </a:prstGeom>
          <a:ln w="25400">
            <a:solidFill>
              <a:srgbClr val="A9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456432" y="4709160"/>
            <a:ext cx="73152" cy="73152"/>
          </a:xfrm>
          <a:prstGeom prst="ellipse">
            <a:avLst/>
          </a:prstGeom>
          <a:solidFill>
            <a:srgbClr val="A9F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809744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A9F06A"/>
                </a:solidFill>
                <a:latin typeface="Aptos"/>
              </a:rPr>
              <a:t>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7088" y="4745736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7FBFF"/>
                </a:solidFill>
                <a:latin typeface="Aptos"/>
              </a:rPr>
              <a:t>Видит прогресс и подтверждает важные действия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85032" y="5001768"/>
            <a:ext cx="320040" cy="0"/>
          </a:xfrm>
          <a:prstGeom prst="line">
            <a:avLst/>
          </a:prstGeom>
          <a:ln w="12700">
            <a:solidFill>
              <a:srgbClr val="A9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005072" y="1517904"/>
            <a:ext cx="7653527" cy="4544568"/>
          </a:xfrm>
          <a:prstGeom prst="roundRect">
            <a:avLst>
              <a:gd name="adj" fmla="val 12000"/>
            </a:avLst>
          </a:prstGeom>
          <a:solidFill>
            <a:srgbClr val="EEF4F8">
              <a:alpha val="95000"/>
            </a:srgbClr>
          </a:solidFill>
          <a:ln w="12700">
            <a:solidFill>
              <a:srgbClr val="0C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off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847088"/>
            <a:ext cx="7196328" cy="3520440"/>
          </a:xfrm>
          <a:prstGeom prst="rect">
            <a:avLst/>
          </a:prstGeom>
        </p:spPr>
      </p:pic>
      <p:cxnSp>
        <p:nvCxnSpPr>
          <p:cNvPr id="35" name="Connector 34"/>
          <p:cNvCxnSpPr/>
          <p:nvPr/>
        </p:nvCxnSpPr>
        <p:spPr>
          <a:xfrm>
            <a:off x="4297680" y="5431536"/>
            <a:ext cx="7068312" cy="0"/>
          </a:xfrm>
          <a:prstGeom prst="line">
            <a:avLst/>
          </a:prstGeom>
          <a:ln w="10160">
            <a:solidFill>
              <a:srgbClr val="C7D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297680" y="5586984"/>
            <a:ext cx="7040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02038"/>
                </a:solidFill>
                <a:latin typeface="Aptos"/>
              </a:rPr>
              <a:t>Один контекст · роли · интеграции · human approval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AI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Как задача проходит через Office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572768"/>
            <a:ext cx="5330952" cy="3163824"/>
          </a:xfrm>
          <a:prstGeom prst="roundRect">
            <a:avLst>
              <a:gd name="adj" fmla="val 12000"/>
            </a:avLst>
          </a:prstGeom>
          <a:solidFill>
            <a:srgbClr val="EEF4F8">
              <a:alpha val="95000"/>
            </a:srgbClr>
          </a:solidFill>
          <a:ln w="1270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ff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819656"/>
            <a:ext cx="4956048" cy="24323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" y="4361688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02038"/>
                </a:solidFill>
                <a:latin typeface="Aptos"/>
              </a:rPr>
              <a:t>TEAMORA OFFICE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4352544"/>
            <a:ext cx="3236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02038"/>
                </a:solidFill>
                <a:latin typeface="Aptos"/>
              </a:rPr>
              <a:t>Одна команда · один маршрут · единый статус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010912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0B2033">
              <a:alpha val="52000"/>
            </a:srgbClr>
          </a:solidFill>
          <a:ln w="1016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020056"/>
            <a:ext cx="11430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>
                <a:solidFill>
                  <a:srgbClr val="25D6D2"/>
                </a:solidFill>
                <a:latin typeface="Aptos"/>
              </a:rPr>
              <a:t>ATLAS · Coordinator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73936" y="5010912"/>
            <a:ext cx="987552" cy="310896"/>
          </a:xfrm>
          <a:prstGeom prst="roundRect">
            <a:avLst>
              <a:gd name="adj" fmla="val 12000"/>
            </a:avLst>
          </a:prstGeom>
          <a:solidFill>
            <a:srgbClr val="0B2033">
              <a:alpha val="52000"/>
            </a:srgbClr>
          </a:solidFill>
          <a:ln w="10160">
            <a:solidFill>
              <a:srgbClr val="FF7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73936" y="5020056"/>
            <a:ext cx="9875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>
                <a:solidFill>
                  <a:srgbClr val="FF7182"/>
                </a:solidFill>
                <a:latin typeface="Aptos"/>
              </a:rPr>
              <a:t>AVA · Clients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25496" y="5010912"/>
            <a:ext cx="987552" cy="310896"/>
          </a:xfrm>
          <a:prstGeom prst="roundRect">
            <a:avLst>
              <a:gd name="adj" fmla="val 12000"/>
            </a:avLst>
          </a:prstGeom>
          <a:solidFill>
            <a:srgbClr val="0B2033">
              <a:alpha val="52000"/>
            </a:srgbClr>
          </a:solidFill>
          <a:ln w="1016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25496" y="5020056"/>
            <a:ext cx="9875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>
                <a:solidFill>
                  <a:srgbClr val="5D7CFF"/>
                </a:solidFill>
                <a:latin typeface="Aptos"/>
              </a:rPr>
              <a:t>SCOUT · Market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77056" y="5010912"/>
            <a:ext cx="987552" cy="310896"/>
          </a:xfrm>
          <a:prstGeom prst="roundRect">
            <a:avLst>
              <a:gd name="adj" fmla="val 12000"/>
            </a:avLst>
          </a:prstGeom>
          <a:solidFill>
            <a:srgbClr val="0B2033">
              <a:alpha val="52000"/>
            </a:srgbClr>
          </a:solidFill>
          <a:ln w="1016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77056" y="5020056"/>
            <a:ext cx="9875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>
                <a:solidFill>
                  <a:srgbClr val="A9F06A"/>
                </a:solidFill>
                <a:latin typeface="Aptos"/>
              </a:rPr>
              <a:t>DEX · Developer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28616" y="5010912"/>
            <a:ext cx="987552" cy="310896"/>
          </a:xfrm>
          <a:prstGeom prst="roundRect">
            <a:avLst>
              <a:gd name="adj" fmla="val 12000"/>
            </a:avLst>
          </a:prstGeom>
          <a:solidFill>
            <a:srgbClr val="0B2033">
              <a:alpha val="52000"/>
            </a:srgbClr>
          </a:solidFill>
          <a:ln w="1016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28616" y="5020056"/>
            <a:ext cx="9875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>
                <a:solidFill>
                  <a:srgbClr val="F4C95D"/>
                </a:solidFill>
                <a:latin typeface="Aptos"/>
              </a:rPr>
              <a:t>ECHO · Support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28232" y="1901952"/>
            <a:ext cx="0" cy="3429000"/>
          </a:xfrm>
          <a:prstGeom prst="line">
            <a:avLst/>
          </a:prstGeom>
          <a:ln w="25400">
            <a:solidFill>
              <a:srgbClr val="0C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208776" y="1719072"/>
            <a:ext cx="438912" cy="438912"/>
          </a:xfrm>
          <a:prstGeom prst="ellipse">
            <a:avLst/>
          </a:prstGeom>
          <a:solidFill>
            <a:srgbClr val="0B2033">
              <a:alpha val="62000"/>
            </a:srgbClr>
          </a:solidFill>
          <a:ln w="1651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8776" y="1728216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D6D2"/>
                </a:solidFill>
                <a:latin typeface="Aptos"/>
              </a:rPr>
              <a:t>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1655063"/>
            <a:ext cx="4242816" cy="557784"/>
          </a:xfrm>
          <a:prstGeom prst="roundRect">
            <a:avLst>
              <a:gd name="adj" fmla="val 12000"/>
            </a:avLst>
          </a:prstGeom>
          <a:solidFill>
            <a:srgbClr val="0B2033">
              <a:alpha val="43000"/>
            </a:srgbClr>
          </a:solidFill>
          <a:ln w="1143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022592" y="1783079"/>
            <a:ext cx="768096" cy="0"/>
          </a:xfrm>
          <a:prstGeom prst="line">
            <a:avLst/>
          </a:prstGeom>
          <a:ln w="25400">
            <a:solidFill>
              <a:srgbClr val="25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872216" y="1755648"/>
            <a:ext cx="73152" cy="73152"/>
          </a:xfrm>
          <a:prstGeom prst="ellipse">
            <a:avLst/>
          </a:prstGeom>
          <a:solidFill>
            <a:srgbClr val="25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59168" y="1819656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25D6D2"/>
                </a:solidFill>
                <a:latin typeface="Aptos"/>
              </a:rPr>
              <a:t>ЗАПРОС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178308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7FBFF"/>
                </a:solidFill>
                <a:latin typeface="Aptos"/>
              </a:rPr>
              <a:t>Владелец ставит цель</a:t>
            </a:r>
          </a:p>
        </p:txBody>
      </p:sp>
      <p:sp>
        <p:nvSpPr>
          <p:cNvPr id="31" name="Oval 30"/>
          <p:cNvSpPr/>
          <p:nvPr/>
        </p:nvSpPr>
        <p:spPr>
          <a:xfrm>
            <a:off x="6208776" y="2450591"/>
            <a:ext cx="438912" cy="438912"/>
          </a:xfrm>
          <a:prstGeom prst="ellipse">
            <a:avLst/>
          </a:prstGeom>
          <a:solidFill>
            <a:srgbClr val="0B2033">
              <a:alpha val="62000"/>
            </a:srgbClr>
          </a:solidFill>
          <a:ln w="1651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8776" y="2459735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D7CFF"/>
                </a:solidFill>
                <a:latin typeface="Aptos"/>
              </a:rPr>
              <a:t>02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24927" y="2386584"/>
            <a:ext cx="3675887" cy="557784"/>
          </a:xfrm>
          <a:prstGeom prst="roundRect">
            <a:avLst>
              <a:gd name="adj" fmla="val 12000"/>
            </a:avLst>
          </a:prstGeom>
          <a:solidFill>
            <a:srgbClr val="0B2033">
              <a:alpha val="43000"/>
            </a:srgbClr>
          </a:solidFill>
          <a:ln w="1143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589519" y="2514600"/>
            <a:ext cx="768096" cy="0"/>
          </a:xfrm>
          <a:prstGeom prst="line">
            <a:avLst/>
          </a:prstGeom>
          <a:ln w="25400">
            <a:solidFill>
              <a:srgbClr val="5D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0872215" y="2487168"/>
            <a:ext cx="73152" cy="73152"/>
          </a:xfrm>
          <a:prstGeom prst="ellipse">
            <a:avLst/>
          </a:prstGeom>
          <a:solidFill>
            <a:srgbClr val="5D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6096" y="2551175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5D7CFF"/>
                </a:solidFill>
                <a:latin typeface="Aptos"/>
              </a:rPr>
              <a:t>ATLAS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23376" y="2514599"/>
            <a:ext cx="21762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7FBFF"/>
                </a:solidFill>
                <a:latin typeface="Aptos"/>
              </a:rPr>
              <a:t>Выбирает маршрут</a:t>
            </a:r>
          </a:p>
        </p:txBody>
      </p:sp>
      <p:sp>
        <p:nvSpPr>
          <p:cNvPr id="38" name="Oval 37"/>
          <p:cNvSpPr/>
          <p:nvPr/>
        </p:nvSpPr>
        <p:spPr>
          <a:xfrm>
            <a:off x="6208776" y="3182112"/>
            <a:ext cx="438912" cy="438912"/>
          </a:xfrm>
          <a:prstGeom prst="ellipse">
            <a:avLst/>
          </a:prstGeom>
          <a:solidFill>
            <a:srgbClr val="0B2033">
              <a:alpha val="62000"/>
            </a:srgbClr>
          </a:solidFill>
          <a:ln w="16510">
            <a:solidFill>
              <a:srgbClr val="8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08776" y="3191256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B6DFF"/>
                </a:solidFill>
                <a:latin typeface="Aptos"/>
              </a:rPr>
              <a:t>03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3118104"/>
            <a:ext cx="4242816" cy="557784"/>
          </a:xfrm>
          <a:prstGeom prst="roundRect">
            <a:avLst>
              <a:gd name="adj" fmla="val 12000"/>
            </a:avLst>
          </a:prstGeom>
          <a:solidFill>
            <a:srgbClr val="0B2033">
              <a:alpha val="43000"/>
            </a:srgbClr>
          </a:solidFill>
          <a:ln w="11430">
            <a:solidFill>
              <a:srgbClr val="8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022592" y="3246120"/>
            <a:ext cx="768096" cy="0"/>
          </a:xfrm>
          <a:prstGeom prst="line">
            <a:avLst/>
          </a:prstGeom>
          <a:ln w="25400">
            <a:solidFill>
              <a:srgbClr val="8B6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872216" y="3218688"/>
            <a:ext cx="73152" cy="73152"/>
          </a:xfrm>
          <a:prstGeom prst="ellipse">
            <a:avLst/>
          </a:prstGeom>
          <a:solidFill>
            <a:srgbClr val="8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59168" y="3282696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8B6DFF"/>
                </a:solidFill>
                <a:latin typeface="Aptos"/>
              </a:rPr>
              <a:t>AI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8" y="324612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7FBFF"/>
                </a:solidFill>
                <a:latin typeface="Aptos"/>
              </a:rPr>
              <a:t>Агенты выполняют части</a:t>
            </a:r>
          </a:p>
        </p:txBody>
      </p:sp>
      <p:sp>
        <p:nvSpPr>
          <p:cNvPr id="45" name="Oval 44"/>
          <p:cNvSpPr/>
          <p:nvPr/>
        </p:nvSpPr>
        <p:spPr>
          <a:xfrm>
            <a:off x="6208776" y="3913632"/>
            <a:ext cx="438912" cy="438912"/>
          </a:xfrm>
          <a:prstGeom prst="ellipse">
            <a:avLst/>
          </a:prstGeom>
          <a:solidFill>
            <a:srgbClr val="0B2033">
              <a:alpha val="62000"/>
            </a:srgbClr>
          </a:solidFill>
          <a:ln w="1651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8776" y="3922776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D6D2"/>
                </a:solidFill>
                <a:latin typeface="Aptos"/>
              </a:rPr>
              <a:t>04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24927" y="3849624"/>
            <a:ext cx="3675887" cy="557784"/>
          </a:xfrm>
          <a:prstGeom prst="roundRect">
            <a:avLst>
              <a:gd name="adj" fmla="val 12000"/>
            </a:avLst>
          </a:prstGeom>
          <a:solidFill>
            <a:srgbClr val="0B2033">
              <a:alpha val="43000"/>
            </a:srgbClr>
          </a:solidFill>
          <a:ln w="1143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7589519" y="3977639"/>
            <a:ext cx="768096" cy="0"/>
          </a:xfrm>
          <a:prstGeom prst="line">
            <a:avLst/>
          </a:prstGeom>
          <a:ln w="25400">
            <a:solidFill>
              <a:srgbClr val="25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10872215" y="3950208"/>
            <a:ext cx="73152" cy="73152"/>
          </a:xfrm>
          <a:prstGeom prst="ellipse">
            <a:avLst/>
          </a:prstGeom>
          <a:solidFill>
            <a:srgbClr val="25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26096" y="4014216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25D6D2"/>
                </a:solidFill>
                <a:latin typeface="Aptos"/>
              </a:rPr>
              <a:t>ATLAS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23376" y="3977640"/>
            <a:ext cx="21762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7FBFF"/>
                </a:solidFill>
                <a:latin typeface="Aptos"/>
              </a:rPr>
              <a:t>Собирает результат</a:t>
            </a:r>
          </a:p>
        </p:txBody>
      </p:sp>
      <p:sp>
        <p:nvSpPr>
          <p:cNvPr id="52" name="Oval 51"/>
          <p:cNvSpPr/>
          <p:nvPr/>
        </p:nvSpPr>
        <p:spPr>
          <a:xfrm>
            <a:off x="6208776" y="4645152"/>
            <a:ext cx="438912" cy="438912"/>
          </a:xfrm>
          <a:prstGeom prst="ellipse">
            <a:avLst/>
          </a:prstGeom>
          <a:solidFill>
            <a:srgbClr val="0B2033">
              <a:alpha val="62000"/>
            </a:srgbClr>
          </a:solidFill>
          <a:ln w="1651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08776" y="4654296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9F06A"/>
                </a:solidFill>
                <a:latin typeface="Aptos"/>
              </a:rPr>
              <a:t>05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0" y="4581144"/>
            <a:ext cx="4242816" cy="557784"/>
          </a:xfrm>
          <a:prstGeom prst="roundRect">
            <a:avLst>
              <a:gd name="adj" fmla="val 12000"/>
            </a:avLst>
          </a:prstGeom>
          <a:solidFill>
            <a:srgbClr val="0B2033">
              <a:alpha val="43000"/>
            </a:srgbClr>
          </a:solidFill>
          <a:ln w="1143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7022592" y="4709159"/>
            <a:ext cx="768096" cy="0"/>
          </a:xfrm>
          <a:prstGeom prst="line">
            <a:avLst/>
          </a:prstGeom>
          <a:ln w="25400">
            <a:solidFill>
              <a:srgbClr val="A9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10872216" y="4681728"/>
            <a:ext cx="73152" cy="73152"/>
          </a:xfrm>
          <a:prstGeom prst="ellipse">
            <a:avLst/>
          </a:prstGeom>
          <a:solidFill>
            <a:srgbClr val="A9F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59168" y="4745736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A9F06A"/>
                </a:solidFill>
                <a:latin typeface="Aptos"/>
              </a:rPr>
              <a:t>CONFIRM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56448" y="47091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7FBFF"/>
                </a:solidFill>
                <a:latin typeface="Aptos"/>
              </a:rPr>
              <a:t>Approval / publish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5833872"/>
            <a:ext cx="11018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92A8BC"/>
                </a:solidFill>
                <a:latin typeface="Aptos"/>
              </a:rPr>
              <a:t>Контекст, файлы, статусы и история остаются внутри одной задачи.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РЫНОК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Базовый сценарий: $24.8B TAM</a:t>
            </a:r>
          </a:p>
        </p:txBody>
      </p:sp>
      <p:sp>
        <p:nvSpPr>
          <p:cNvPr id="9" name="Hexagon 8"/>
          <p:cNvSpPr/>
          <p:nvPr/>
        </p:nvSpPr>
        <p:spPr>
          <a:xfrm>
            <a:off x="658368" y="1755648"/>
            <a:ext cx="3675887" cy="2157984"/>
          </a:xfrm>
          <a:prstGeom prst="hexagon">
            <a:avLst/>
          </a:prstGeom>
          <a:solidFill>
            <a:srgbClr val="0B2033">
              <a:alpha val="43000"/>
            </a:srgbClr>
          </a:solidFill>
          <a:ln w="1397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112264"/>
            <a:ext cx="2724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5D6D2"/>
                </a:solidFill>
                <a:latin typeface="Aptos"/>
              </a:rPr>
              <a:t>ПОДТВЕРЖДЁННАЯ БАЗА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2523744"/>
            <a:ext cx="276148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7FBFF"/>
                </a:solidFill>
                <a:latin typeface="Aptos Display"/>
              </a:rPr>
              <a:t>68.8M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92A8BC"/>
                </a:solidFill>
                <a:latin typeface="Aptos"/>
              </a:rPr>
              <a:t>малых компаний · США + ЕС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4224528"/>
            <a:ext cx="1280160" cy="274320"/>
          </a:xfrm>
          <a:prstGeom prst="roundRect">
            <a:avLst>
              <a:gd name="adj" fmla="val 12000"/>
            </a:avLst>
          </a:prstGeom>
          <a:solidFill>
            <a:srgbClr val="0B2033">
              <a:alpha val="42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233672"/>
            <a:ext cx="12801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>
                <a:solidFill>
                  <a:srgbClr val="6F879C"/>
                </a:solidFill>
                <a:latin typeface="Aptos"/>
              </a:rPr>
              <a:t>DIGITAL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4251960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7FBFF"/>
                </a:solidFill>
                <a:latin typeface="Aptos"/>
              </a:rPr>
              <a:t>20%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4700016"/>
            <a:ext cx="1280160" cy="274320"/>
          </a:xfrm>
          <a:prstGeom prst="roundRect">
            <a:avLst>
              <a:gd name="adj" fmla="val 12000"/>
            </a:avLst>
          </a:prstGeom>
          <a:solidFill>
            <a:srgbClr val="0B2033">
              <a:alpha val="42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709160"/>
            <a:ext cx="12801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>
                <a:solidFill>
                  <a:srgbClr val="6F879C"/>
                </a:solidFill>
                <a:latin typeface="Aptos"/>
              </a:rPr>
              <a:t>ARPA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7712" y="4727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7FBFF"/>
                </a:solidFill>
                <a:latin typeface="Aptos"/>
              </a:rPr>
              <a:t>$1,800 / год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5175504"/>
            <a:ext cx="1280160" cy="274320"/>
          </a:xfrm>
          <a:prstGeom prst="roundRect">
            <a:avLst>
              <a:gd name="adj" fmla="val 12000"/>
            </a:avLst>
          </a:prstGeom>
          <a:solidFill>
            <a:srgbClr val="0B2033">
              <a:alpha val="42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184648"/>
            <a:ext cx="12801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>
                <a:solidFill>
                  <a:srgbClr val="6F879C"/>
                </a:solidFill>
                <a:latin typeface="Aptos"/>
              </a:rPr>
              <a:t>SAM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7712" y="520293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7FBFF"/>
                </a:solidFill>
                <a:latin typeface="Aptos"/>
              </a:rPr>
              <a:t>25%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1435608"/>
            <a:ext cx="4315968" cy="4315968"/>
          </a:xfrm>
          <a:prstGeom prst="ellipse">
            <a:avLst/>
          </a:prstGeom>
          <a:solidFill>
            <a:srgbClr val="0B2033">
              <a:alpha val="24000"/>
            </a:srgbClr>
          </a:solidFill>
          <a:ln w="1905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50608" y="2093976"/>
            <a:ext cx="2999232" cy="2999232"/>
          </a:xfrm>
          <a:prstGeom prst="ellipse">
            <a:avLst/>
          </a:prstGeom>
          <a:solidFill>
            <a:srgbClr val="102A42">
              <a:alpha val="28000"/>
            </a:srgbClr>
          </a:solidFill>
          <a:ln w="1778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81544" y="2724912"/>
            <a:ext cx="1737360" cy="1737360"/>
          </a:xfrm>
          <a:prstGeom prst="ellipse">
            <a:avLst/>
          </a:prstGeom>
          <a:solidFill>
            <a:srgbClr val="143550">
              <a:alpha val="42000"/>
            </a:srgbClr>
          </a:solidFill>
          <a:ln w="1778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1472" y="1901952"/>
            <a:ext cx="6949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25D6D2"/>
                </a:solidFill>
                <a:latin typeface="Aptos"/>
              </a:rPr>
              <a:t>TAM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2194560"/>
            <a:ext cx="131673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F7FBFF"/>
                </a:solidFill>
                <a:latin typeface="Aptos"/>
              </a:rPr>
              <a:t>$24.8B ARR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4251960"/>
            <a:ext cx="6949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D7CFF"/>
                </a:solidFill>
                <a:latin typeface="Aptos"/>
              </a:rPr>
              <a:t>SAM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455371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F7FBFF"/>
                </a:solidFill>
                <a:latin typeface="Aptos"/>
              </a:rPr>
              <a:t>$6.2B ARR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4" y="3108960"/>
            <a:ext cx="914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A9F06A"/>
                </a:solidFill>
                <a:latin typeface="Aptos"/>
              </a:rPr>
              <a:t>SOM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3493008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F7FBFF"/>
                </a:solidFill>
                <a:latin typeface="Aptos Display"/>
              </a:rPr>
              <a:t>$18M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904487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2A8BC"/>
                </a:solidFill>
                <a:latin typeface="Aptos"/>
              </a:rPr>
              <a:t>10,000 клиентов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843016"/>
            <a:ext cx="43159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4C95D"/>
                </a:solidFill>
                <a:latin typeface="Aptos"/>
              </a:rPr>
              <a:t>SOM — цель на 36 месяцев, не текущая выручка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565392"/>
            <a:ext cx="10789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6F879C"/>
                </a:solidFill>
                <a:latin typeface="Aptos"/>
              </a:rPr>
              <a:t>База: SBA 2024 — 34.8M; European Commission / JRC 2025/26 — 34.0M SMEs.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БИЗНЕС-МОДЕЛЬ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Тарифы для рынка Узбекистана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37776" y="1133856"/>
            <a:ext cx="1874519" cy="310896"/>
          </a:xfrm>
          <a:prstGeom prst="roundRect">
            <a:avLst>
              <a:gd name="adj" fmla="val 12000"/>
            </a:avLst>
          </a:prstGeom>
          <a:solidFill>
            <a:srgbClr val="0B2033">
              <a:alpha val="52000"/>
            </a:srgbClr>
          </a:solidFill>
          <a:ln w="10160">
            <a:solidFill>
              <a:srgbClr val="0C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37776" y="1143000"/>
            <a:ext cx="1874519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5D6D2"/>
                </a:solidFill>
                <a:latin typeface="Aptos"/>
              </a:rPr>
              <a:t>UZBEKISTAN · MONTHLY</a:t>
            </a:r>
          </a:p>
        </p:txBody>
      </p:sp>
      <p:sp>
        <p:nvSpPr>
          <p:cNvPr id="11" name="Snip Single Corner Rectangle 10"/>
          <p:cNvSpPr/>
          <p:nvPr/>
        </p:nvSpPr>
        <p:spPr>
          <a:xfrm>
            <a:off x="694944" y="1993392"/>
            <a:ext cx="3154680" cy="3054096"/>
          </a:xfrm>
          <a:prstGeom prst="snip1Rect">
            <a:avLst/>
          </a:prstGeom>
          <a:solidFill>
            <a:srgbClr val="0B2033">
              <a:alpha val="43000"/>
            </a:srgbClr>
          </a:solidFill>
          <a:ln w="1397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96112" y="2157984"/>
            <a:ext cx="2459736" cy="0"/>
          </a:xfrm>
          <a:prstGeom prst="line">
            <a:avLst/>
          </a:prstGeom>
          <a:ln w="27940">
            <a:solidFill>
              <a:srgbClr val="25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50976" y="2432304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25D6D2"/>
                </a:solidFill>
                <a:latin typeface="Aptos"/>
              </a:rPr>
              <a:t>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980944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7FBFF"/>
                </a:solidFill>
                <a:latin typeface="Aptos Display"/>
              </a:rPr>
              <a:t>$29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3291840"/>
            <a:ext cx="932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92A8BC"/>
                </a:solidFill>
                <a:latin typeface="Aptos"/>
              </a:rPr>
              <a:t>/ месяц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0976" y="3858768"/>
            <a:ext cx="2587752" cy="0"/>
          </a:xfrm>
          <a:prstGeom prst="line">
            <a:avLst/>
          </a:prstGeom>
          <a:ln w="1143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50976" y="4151376"/>
            <a:ext cx="1161288" cy="310896"/>
          </a:xfrm>
          <a:prstGeom prst="roundRect">
            <a:avLst>
              <a:gd name="adj" fmla="val 12000"/>
            </a:avLst>
          </a:prstGeom>
          <a:solidFill>
            <a:srgbClr val="0B2033">
              <a:alpha val="38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160520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7FBFF"/>
                </a:solidFill>
                <a:latin typeface="Aptos"/>
              </a:rPr>
              <a:t>1 команда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136" y="4151376"/>
            <a:ext cx="1188720" cy="310896"/>
          </a:xfrm>
          <a:prstGeom prst="roundRect">
            <a:avLst>
              <a:gd name="adj" fmla="val 12000"/>
            </a:avLst>
          </a:prstGeom>
          <a:solidFill>
            <a:srgbClr val="0B2033">
              <a:alpha val="38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31136" y="4160520"/>
            <a:ext cx="11887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7FBFF"/>
                </a:solidFill>
                <a:latin typeface="Aptos"/>
              </a:rPr>
              <a:t>5 агентов</a:t>
            </a:r>
          </a:p>
        </p:txBody>
      </p:sp>
      <p:sp>
        <p:nvSpPr>
          <p:cNvPr id="21" name="Snip Single Corner Rectangle 20"/>
          <p:cNvSpPr/>
          <p:nvPr/>
        </p:nvSpPr>
        <p:spPr>
          <a:xfrm>
            <a:off x="4151376" y="1673352"/>
            <a:ext cx="3840480" cy="3675887"/>
          </a:xfrm>
          <a:prstGeom prst="snip1Rect">
            <a:avLst/>
          </a:prstGeom>
          <a:solidFill>
            <a:srgbClr val="0B2033">
              <a:alpha val="58000"/>
            </a:srgbClr>
          </a:solidFill>
          <a:ln w="1397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352544" y="1837944"/>
            <a:ext cx="3145535" cy="0"/>
          </a:xfrm>
          <a:prstGeom prst="line">
            <a:avLst/>
          </a:prstGeom>
          <a:ln w="27940">
            <a:solidFill>
              <a:srgbClr val="5D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07408" y="2112264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5D7CFF"/>
                </a:solidFill>
                <a:latin typeface="Aptos"/>
              </a:rPr>
              <a:t>PLUS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2660904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7FBFF"/>
                </a:solidFill>
                <a:latin typeface="Aptos Display"/>
              </a:rPr>
              <a:t>$99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4144" y="2971800"/>
            <a:ext cx="932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92A8BC"/>
                </a:solidFill>
                <a:latin typeface="Aptos"/>
              </a:rPr>
              <a:t>/ месяц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07408" y="3538728"/>
            <a:ext cx="3273552" cy="0"/>
          </a:xfrm>
          <a:prstGeom prst="line">
            <a:avLst/>
          </a:prstGeom>
          <a:ln w="1143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407408" y="3831335"/>
            <a:ext cx="1161288" cy="310896"/>
          </a:xfrm>
          <a:prstGeom prst="roundRect">
            <a:avLst>
              <a:gd name="adj" fmla="val 12000"/>
            </a:avLst>
          </a:prstGeom>
          <a:solidFill>
            <a:srgbClr val="0B2033">
              <a:alpha val="38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3840479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7FBFF"/>
                </a:solidFill>
                <a:latin typeface="Aptos"/>
              </a:rPr>
              <a:t>3 команды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87568" y="3831335"/>
            <a:ext cx="1188720" cy="310896"/>
          </a:xfrm>
          <a:prstGeom prst="roundRect">
            <a:avLst>
              <a:gd name="adj" fmla="val 12000"/>
            </a:avLst>
          </a:prstGeom>
          <a:solidFill>
            <a:srgbClr val="0B2033">
              <a:alpha val="38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87568" y="3840479"/>
            <a:ext cx="11887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7FBFF"/>
                </a:solidFill>
                <a:latin typeface="Aptos"/>
              </a:rPr>
              <a:t>15 агентов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8856" y="2112264"/>
            <a:ext cx="80467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POPULAR</a:t>
            </a:r>
          </a:p>
        </p:txBody>
      </p:sp>
      <p:sp>
        <p:nvSpPr>
          <p:cNvPr id="32" name="Snip Single Corner Rectangle 31"/>
          <p:cNvSpPr/>
          <p:nvPr/>
        </p:nvSpPr>
        <p:spPr>
          <a:xfrm>
            <a:off x="8284464" y="1993392"/>
            <a:ext cx="3154680" cy="3054096"/>
          </a:xfrm>
          <a:prstGeom prst="snip1Rect">
            <a:avLst/>
          </a:prstGeom>
          <a:solidFill>
            <a:srgbClr val="0B2033">
              <a:alpha val="43000"/>
            </a:srgbClr>
          </a:solidFill>
          <a:ln w="13970">
            <a:solidFill>
              <a:srgbClr val="8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8485632" y="2157984"/>
            <a:ext cx="2459736" cy="0"/>
          </a:xfrm>
          <a:prstGeom prst="line">
            <a:avLst/>
          </a:prstGeom>
          <a:ln w="27940">
            <a:solidFill>
              <a:srgbClr val="8B6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540496" y="2432304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8B6DFF"/>
                </a:solidFill>
                <a:latin typeface="Aptos"/>
              </a:rPr>
              <a:t>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0496" y="2980944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7FBFF"/>
                </a:solidFill>
                <a:latin typeface="Aptos Display"/>
              </a:rPr>
              <a:t>$199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3291840"/>
            <a:ext cx="932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92A8BC"/>
                </a:solidFill>
                <a:latin typeface="Aptos"/>
              </a:rPr>
              <a:t>/ месяц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40496" y="3858768"/>
            <a:ext cx="2587752" cy="0"/>
          </a:xfrm>
          <a:prstGeom prst="line">
            <a:avLst/>
          </a:prstGeom>
          <a:ln w="1143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40496" y="4151376"/>
            <a:ext cx="1161288" cy="310896"/>
          </a:xfrm>
          <a:prstGeom prst="roundRect">
            <a:avLst>
              <a:gd name="adj" fmla="val 12000"/>
            </a:avLst>
          </a:prstGeom>
          <a:solidFill>
            <a:srgbClr val="0B2033">
              <a:alpha val="38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0496" y="4160520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7FBFF"/>
                </a:solidFill>
                <a:latin typeface="Aptos"/>
              </a:rPr>
              <a:t>10 команд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20656" y="4151376"/>
            <a:ext cx="1188720" cy="310896"/>
          </a:xfrm>
          <a:prstGeom prst="roundRect">
            <a:avLst>
              <a:gd name="adj" fmla="val 12000"/>
            </a:avLst>
          </a:prstGeom>
          <a:solidFill>
            <a:srgbClr val="0B2033">
              <a:alpha val="38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0656" y="4160520"/>
            <a:ext cx="11887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7FBFF"/>
                </a:solidFill>
                <a:latin typeface="Aptos"/>
              </a:rPr>
              <a:t>50 агентов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9312" y="5760720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F879C"/>
                </a:solidFill>
                <a:latin typeface="Aptos"/>
              </a:rPr>
              <a:t>GLOBAL PRICING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5715000"/>
            <a:ext cx="40050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A8BC"/>
                </a:solidFill>
                <a:latin typeface="Aptos"/>
              </a:rPr>
              <a:t>Starter $29   ·   Business $149   ·   Agency $399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КОНКУРЕНЦИЯ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Широкий AI-офис, запуск за минуты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" y="5468112"/>
            <a:ext cx="6656832" cy="0"/>
          </a:xfrm>
          <a:prstGeom prst="line">
            <a:avLst/>
          </a:prstGeom>
          <a:ln w="13970">
            <a:solidFill>
              <a:srgbClr val="6F87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41248" y="1901952"/>
            <a:ext cx="0" cy="3566160"/>
          </a:xfrm>
          <a:prstGeom prst="line">
            <a:avLst/>
          </a:prstGeom>
          <a:ln w="13970">
            <a:solidFill>
              <a:srgbClr val="6F87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69664" y="1901952"/>
            <a:ext cx="0" cy="356616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8" y="3685032"/>
            <a:ext cx="6656832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3504" y="5303520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6F879C"/>
                </a:solidFill>
                <a:latin typeface="Aptos"/>
              </a:rPr>
              <a:t>УЗКАЯ ФУНКЦИЯ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1609344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6F879C"/>
                </a:solidFill>
                <a:latin typeface="Aptos"/>
              </a:rPr>
              <a:t>ШИРОКИЙ AI-ОФИС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650992"/>
            <a:ext cx="1527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6F879C"/>
                </a:solidFill>
                <a:latin typeface="Aptos"/>
              </a:rPr>
              <a:t>СЛОЖНЫЙ ЗАПУСК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5650992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6F879C"/>
                </a:solidFill>
                <a:latin typeface="Aptos"/>
              </a:rPr>
              <a:t>ЗАПУСК ЗА МИНУТЫ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92807" y="4361688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102A42">
              <a:alpha val="40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92807" y="4370831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2A8BC"/>
                </a:solidFill>
                <a:latin typeface="Aptos"/>
              </a:rPr>
              <a:t>Vertical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16352" y="4901184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102A42">
              <a:alpha val="40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16352" y="491032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2A8BC"/>
                </a:solidFill>
                <a:latin typeface="Aptos"/>
              </a:rPr>
              <a:t>Zapier / Make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4096512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102A42">
              <a:alpha val="40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10565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2A8BC"/>
                </a:solidFill>
                <a:latin typeface="Aptos"/>
              </a:rPr>
              <a:t>ChatGPT / Claude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9824" y="2880360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102A42">
              <a:alpha val="40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9824" y="2889503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B6DFF"/>
                </a:solidFill>
                <a:latin typeface="Aptos"/>
              </a:rPr>
              <a:t>Relevance / Lindy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2212848"/>
            <a:ext cx="1152144" cy="320040"/>
          </a:xfrm>
          <a:prstGeom prst="roundRect">
            <a:avLst>
              <a:gd name="adj" fmla="val 12000"/>
            </a:avLst>
          </a:prstGeom>
          <a:solidFill>
            <a:srgbClr val="0C737D">
              <a:alpha val="56000"/>
            </a:srgbClr>
          </a:solidFill>
          <a:ln w="1016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2221991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7FBFF"/>
                </a:solidFill>
                <a:latin typeface="Aptos"/>
              </a:rPr>
              <a:t>TEAMORA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36992" y="1901952"/>
            <a:ext cx="3721608" cy="3566160"/>
          </a:xfrm>
          <a:prstGeom prst="roundRect">
            <a:avLst>
              <a:gd name="adj" fmla="val 12000"/>
            </a:avLst>
          </a:prstGeom>
          <a:solidFill>
            <a:srgbClr val="0B2033">
              <a:alpha val="46000"/>
            </a:srgbClr>
          </a:solidFill>
          <a:ln w="1270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101583" y="2029968"/>
            <a:ext cx="768097" cy="0"/>
          </a:xfrm>
          <a:prstGeom prst="line">
            <a:avLst/>
          </a:prstGeom>
          <a:ln w="25400">
            <a:solidFill>
              <a:srgbClr val="25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1430000" y="2002536"/>
            <a:ext cx="73152" cy="73152"/>
          </a:xfrm>
          <a:prstGeom prst="ellipse">
            <a:avLst/>
          </a:prstGeom>
          <a:solidFill>
            <a:srgbClr val="25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2185416"/>
            <a:ext cx="2286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D6D2"/>
                </a:solidFill>
                <a:latin typeface="Aptos"/>
              </a:rPr>
              <a:t>ДИФФЕРЕНЦИАЦИЯ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0" y="2779775"/>
            <a:ext cx="219456" cy="219456"/>
          </a:xfrm>
          <a:prstGeom prst="ellipse">
            <a:avLst/>
          </a:prstGeom>
          <a:solidFill>
            <a:srgbClr val="0C737D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2779775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5D6D2"/>
                </a:solidFill>
                <a:latin typeface="Apto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2761488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7FBFF"/>
                </a:solidFill>
                <a:latin typeface="Aptos"/>
              </a:rPr>
              <a:t>Business context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0" y="3383279"/>
            <a:ext cx="219456" cy="219456"/>
          </a:xfrm>
          <a:prstGeom prst="ellipse">
            <a:avLst/>
          </a:prstGeom>
          <a:solidFill>
            <a:srgbClr val="0C737D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3383279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5D6D2"/>
                </a:solidFill>
                <a:latin typeface="Apto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8" y="3364992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7FBFF"/>
                </a:solidFill>
                <a:latin typeface="Aptos"/>
              </a:rPr>
              <a:t>Role playbooks</a:t>
            </a:r>
          </a:p>
        </p:txBody>
      </p:sp>
      <p:sp>
        <p:nvSpPr>
          <p:cNvPr id="37" name="Oval 36"/>
          <p:cNvSpPr/>
          <p:nvPr/>
        </p:nvSpPr>
        <p:spPr>
          <a:xfrm>
            <a:off x="8229600" y="3986783"/>
            <a:ext cx="219456" cy="219456"/>
          </a:xfrm>
          <a:prstGeom prst="ellipse">
            <a:avLst/>
          </a:prstGeom>
          <a:solidFill>
            <a:srgbClr val="0C737D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3986783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5D6D2"/>
                </a:solidFill>
                <a:latin typeface="Apto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13648" y="3968496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7FBFF"/>
                </a:solidFill>
                <a:latin typeface="Aptos"/>
              </a:rPr>
              <a:t>Integrations</a:t>
            </a:r>
          </a:p>
        </p:txBody>
      </p:sp>
      <p:sp>
        <p:nvSpPr>
          <p:cNvPr id="40" name="Oval 39"/>
          <p:cNvSpPr/>
          <p:nvPr/>
        </p:nvSpPr>
        <p:spPr>
          <a:xfrm>
            <a:off x="8229600" y="4590288"/>
            <a:ext cx="219456" cy="219456"/>
          </a:xfrm>
          <a:prstGeom prst="ellipse">
            <a:avLst/>
          </a:prstGeom>
          <a:solidFill>
            <a:srgbClr val="0C737D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4590288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5D6D2"/>
                </a:solidFill>
                <a:latin typeface="Apto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3648" y="4572000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7FBFF"/>
                </a:solidFill>
                <a:latin typeface="Aptos"/>
              </a:rPr>
              <a:t>Approvals + task history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ЦЕЛИ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36 месяцев до 10,000 платящих компаний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9992" y="1170432"/>
            <a:ext cx="2404872" cy="292608"/>
          </a:xfrm>
          <a:prstGeom prst="roundRect">
            <a:avLst>
              <a:gd name="adj" fmla="val 12000"/>
            </a:avLst>
          </a:prstGeom>
          <a:solidFill>
            <a:srgbClr val="0B2033">
              <a:alpha val="45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9992" y="1179576"/>
            <a:ext cx="240487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4C95D"/>
                </a:solidFill>
                <a:latin typeface="Aptos"/>
              </a:rPr>
              <a:t>ПЛАН · НЕ ТЕКУЩИЕ РЕЗУЛЬТАТЫ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426464" y="4151376"/>
            <a:ext cx="2788920" cy="621792"/>
          </a:xfrm>
          <a:prstGeom prst="line">
            <a:avLst/>
          </a:prstGeom>
          <a:ln w="27940">
            <a:solidFill>
              <a:srgbClr val="25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215384" y="3493008"/>
            <a:ext cx="2926080" cy="658368"/>
          </a:xfrm>
          <a:prstGeom prst="line">
            <a:avLst/>
          </a:prstGeom>
          <a:ln w="27940">
            <a:solidFill>
              <a:srgbClr val="5D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41464" y="2779776"/>
            <a:ext cx="2990088" cy="713232"/>
          </a:xfrm>
          <a:prstGeom prst="line">
            <a:avLst/>
          </a:prstGeom>
          <a:ln w="27940">
            <a:solidFill>
              <a:srgbClr val="8B6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97280" y="4443984"/>
            <a:ext cx="658368" cy="658368"/>
          </a:xfrm>
          <a:prstGeom prst="ellipse">
            <a:avLst/>
          </a:prstGeom>
          <a:solidFill>
            <a:srgbClr val="0B2033">
              <a:alpha val="55000"/>
            </a:srgbClr>
          </a:solidFill>
          <a:ln w="2286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98448" y="4645152"/>
            <a:ext cx="256032" cy="256032"/>
          </a:xfrm>
          <a:prstGeom prst="ellipse">
            <a:avLst/>
          </a:prstGeom>
          <a:solidFill>
            <a:srgbClr val="25D6D2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657600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7FBFF"/>
                </a:solidFill>
                <a:latin typeface="Aptos Display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66944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5D6D2"/>
                </a:solidFill>
                <a:latin typeface="Aptos"/>
              </a:rPr>
              <a:t>0–6 мес.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" y="560527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92A8BC"/>
                </a:solidFill>
                <a:latin typeface="Aptos"/>
              </a:rPr>
              <a:t>50 pilots → paid</a:t>
            </a:r>
          </a:p>
        </p:txBody>
      </p:sp>
      <p:sp>
        <p:nvSpPr>
          <p:cNvPr id="19" name="Oval 18"/>
          <p:cNvSpPr/>
          <p:nvPr/>
        </p:nvSpPr>
        <p:spPr>
          <a:xfrm>
            <a:off x="3886200" y="3822191"/>
            <a:ext cx="658368" cy="658368"/>
          </a:xfrm>
          <a:prstGeom prst="ellipse">
            <a:avLst/>
          </a:prstGeom>
          <a:solidFill>
            <a:srgbClr val="0B2033">
              <a:alpha val="55000"/>
            </a:srgbClr>
          </a:solidFill>
          <a:ln w="2286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87368" y="4023359"/>
            <a:ext cx="256032" cy="256032"/>
          </a:xfrm>
          <a:prstGeom prst="ellipse">
            <a:avLst/>
          </a:prstGeom>
          <a:solidFill>
            <a:srgbClr val="5D7C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8728" y="3035808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7FBFF"/>
                </a:solidFill>
                <a:latin typeface="Aptos Display"/>
              </a:rPr>
              <a:t>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645152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5D7CFF"/>
                </a:solidFill>
                <a:latin typeface="Aptos"/>
              </a:rPr>
              <a:t>6–12 мес.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4983479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92A8BC"/>
                </a:solidFill>
                <a:latin typeface="Aptos"/>
              </a:rPr>
              <a:t>retention signal</a:t>
            </a:r>
          </a:p>
        </p:txBody>
      </p:sp>
      <p:sp>
        <p:nvSpPr>
          <p:cNvPr id="24" name="Oval 23"/>
          <p:cNvSpPr/>
          <p:nvPr/>
        </p:nvSpPr>
        <p:spPr>
          <a:xfrm>
            <a:off x="6812280" y="3163824"/>
            <a:ext cx="658368" cy="658368"/>
          </a:xfrm>
          <a:prstGeom prst="ellipse">
            <a:avLst/>
          </a:prstGeom>
          <a:solidFill>
            <a:srgbClr val="0B2033">
              <a:alpha val="55000"/>
            </a:srgbClr>
          </a:solidFill>
          <a:ln w="22860">
            <a:solidFill>
              <a:srgbClr val="8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13448" y="3364992"/>
            <a:ext cx="256032" cy="256032"/>
          </a:xfrm>
          <a:prstGeom prst="ellipse">
            <a:avLst/>
          </a:prstGeom>
          <a:solidFill>
            <a:srgbClr val="8B6D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377440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7FBFF"/>
                </a:solidFill>
                <a:latin typeface="Aptos Display"/>
              </a:rPr>
              <a:t>5,000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86784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8B6DFF"/>
                </a:solidFill>
                <a:latin typeface="Aptos"/>
              </a:rPr>
              <a:t>12–24 мес.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432511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92A8BC"/>
                </a:solidFill>
                <a:latin typeface="Aptos"/>
              </a:rPr>
              <a:t>$8–10M ARR</a:t>
            </a:r>
          </a:p>
        </p:txBody>
      </p:sp>
      <p:sp>
        <p:nvSpPr>
          <p:cNvPr id="29" name="Oval 28"/>
          <p:cNvSpPr/>
          <p:nvPr/>
        </p:nvSpPr>
        <p:spPr>
          <a:xfrm>
            <a:off x="9802368" y="2450592"/>
            <a:ext cx="658368" cy="658368"/>
          </a:xfrm>
          <a:prstGeom prst="ellipse">
            <a:avLst/>
          </a:prstGeom>
          <a:solidFill>
            <a:srgbClr val="0B2033">
              <a:alpha val="55000"/>
            </a:srgbClr>
          </a:solidFill>
          <a:ln w="2286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03536" y="2651760"/>
            <a:ext cx="256032" cy="256032"/>
          </a:xfrm>
          <a:prstGeom prst="ellipse">
            <a:avLst/>
          </a:prstGeom>
          <a:solidFill>
            <a:srgbClr val="A9F06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54896" y="1664208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7FBFF"/>
                </a:solidFill>
                <a:latin typeface="Aptos Display"/>
              </a:rPr>
              <a:t>10,000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3273552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A9F06A"/>
                </a:solidFill>
                <a:latin typeface="Aptos"/>
              </a:rPr>
              <a:t>24–36 мес.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6296" y="361188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92A8BC"/>
                </a:solidFill>
                <a:latin typeface="Aptos"/>
              </a:rPr>
              <a:t>$18M ARR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05840" y="5907024"/>
            <a:ext cx="10085832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43000" y="6053328"/>
            <a:ext cx="9829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92A8BC"/>
                </a:solidFill>
                <a:latin typeface="Aptos"/>
              </a:rPr>
              <a:t>Scale gates: TTFV &lt;15 мин  ·  retention ≥80%  ·  CAC payback &lt;6 мес.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389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4392" y="521207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102A42">
              <a:alpha val="52000"/>
            </a:srgbClr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4392" y="530352"/>
            <a:ext cx="1417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A9F06A"/>
                </a:solidFill>
                <a:latin typeface="Aptos"/>
              </a:rPr>
              <a:t>VISION ·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8732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7FBFF"/>
                </a:solidFill>
                <a:latin typeface="Aptos Display"/>
              </a:rPr>
              <a:t>Сделать AI-команду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85416"/>
            <a:ext cx="8732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7FBFF"/>
                </a:solidFill>
                <a:latin typeface="Aptos Display"/>
              </a:rPr>
              <a:t>стандартом для каждого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7543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5D6D2"/>
                </a:solidFill>
                <a:latin typeface="Aptos Display"/>
              </a:rPr>
              <a:t>малого бизнеса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813048"/>
            <a:ext cx="6949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92A8BC"/>
                </a:solidFill>
                <a:latin typeface="Aptos"/>
              </a:rPr>
              <a:t>Не ещё один инструмент — рабочая среда, которая превращает идеи в действия.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7512" y="4782312"/>
            <a:ext cx="3767328" cy="0"/>
          </a:xfrm>
          <a:prstGeom prst="line">
            <a:avLst/>
          </a:prstGeom>
          <a:ln w="13970">
            <a:solidFill>
              <a:srgbClr val="0C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65208" y="6245352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879C"/>
                </a:solidFill>
                <a:latin typeface="Aptos"/>
              </a:rPr>
              <a:t>teamora.ai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Teamora AI — Investor Deck 2026</dc:title>
  <dc:subject>AI office for small business</dc:subject>
  <dc:creator>Teamora AI</dc:creator>
  <cp:keywords>Teamora, AI office, investor deck, SMB</cp:keywords>
  <dc:description>Redesigned and condensed investor deck. Planning targets are not current results.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