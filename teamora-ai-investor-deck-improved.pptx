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52360" y="-777240"/>
            <a:ext cx="5486400" cy="5486400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75320" y="45720"/>
            <a:ext cx="3840480" cy="384048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6840" y="777240"/>
            <a:ext cx="2377440" cy="2377440"/>
          </a:xfrm>
          <a:prstGeom prst="ellipse">
            <a:avLst/>
          </a:prstGeom>
          <a:solidFill>
            <a:srgbClr val="14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57276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76072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INVESTOR DECK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93808" y="60350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99032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7FBFF"/>
                </a:solidFill>
                <a:latin typeface="Aptos Display"/>
              </a:rPr>
              <a:t>AI-команда, которая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5D6D2"/>
                </a:solidFill>
                <a:latin typeface="Aptos Display"/>
              </a:rPr>
              <a:t>выполняет работу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5166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2A8BC"/>
                </a:solidFill>
                <a:latin typeface="Aptos"/>
              </a:rPr>
              <a:t>Подключает рабочие сервисы, распределяет задачи между AI-ролями и показывает владельцу результат.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87368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96511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SMB AI OFFICE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12264" y="4087368"/>
            <a:ext cx="1490472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4096511"/>
            <a:ext cx="14904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HUMAN APPROVAL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909559" y="1719072"/>
            <a:ext cx="978409" cy="189280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42631" y="1417320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142646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D6D2"/>
                </a:solidFill>
                <a:latin typeface="Aptos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5" y="211226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MARKETING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887968" y="1600200"/>
            <a:ext cx="1261872" cy="2011680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582912" y="1298448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1307592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D7CFF"/>
                </a:solidFill>
                <a:latin typeface="Aptos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1993391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SALES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887968" y="3364992"/>
            <a:ext cx="2231135" cy="24688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552176" y="3063240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52176" y="307238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6DFF"/>
                </a:solidFill>
                <a:latin typeface="Aptos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9" y="37581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SUPPORT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87968" y="3611880"/>
            <a:ext cx="1152143" cy="1700784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473184" y="5010912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5020056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F06A"/>
                </a:solidFill>
                <a:latin typeface="Aptos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57058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RESEARCH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680960" y="3611880"/>
            <a:ext cx="1207008" cy="148132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114032" y="4791456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4800600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95D"/>
                </a:solidFill>
                <a:latin typeface="Aptos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548640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AUTOMATION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2953512"/>
            <a:ext cx="1316736" cy="1316736"/>
          </a:xfrm>
          <a:prstGeom prst="ellipse">
            <a:avLst/>
          </a:prstGeom>
          <a:solidFill>
            <a:srgbClr val="0C737D"/>
          </a:solidFill>
          <a:ln w="228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03336" y="3127248"/>
            <a:ext cx="969264" cy="969264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6" y="3429000"/>
            <a:ext cx="969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TEAMORA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5D6D2"/>
                </a:solidFill>
                <a:latin typeface="Aptos"/>
              </a:rPr>
              <a:t>COORDINATOR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62453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ТЕЗИС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От запроса — к выполненной работе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Teamora — операционный слой между целью владельца и его рабочими сервисами.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Описать нужный результат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8104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0984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1296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ПЛАН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Разбить работу на роли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88736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71616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ИСПОЛНЕНИЕ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Сделать в подключённых сервисах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9368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42248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52560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КОНТРОЛЬ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Показать статус и запросить approval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864608"/>
            <a:ext cx="11128248" cy="82296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148072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2A8BC"/>
                </a:solidFill>
                <a:latin typeface="Aptos"/>
              </a:rPr>
              <a:t>Не чат. Не конструктор workflow. </a:t>
            </a:r>
            <a:r>
              <a:rPr sz="1500" b="1">
                <a:solidFill>
                  <a:srgbClr val="F7FBFF"/>
                </a:solidFill>
                <a:latin typeface="Aptos"/>
              </a:rPr>
              <a:t>Готовый AI-офис для малого бизнеса.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Владелец всё ещё остаётся диспетчером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Чаты, подрядчики и автоматизации не складываются в единый процесс.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" y="2907792"/>
            <a:ext cx="292608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Контекст теряется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Задачу приходится объяснять заново каждому человеку и сервису.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9704" y="2907792"/>
            <a:ext cx="2926079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89704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Работа нерегулярна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Маркетинг и follow-up зависят от свободного времени владельца.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11312" y="2907792"/>
            <a:ext cx="292608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11312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Результат не прозрачен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Непонятно, что готово, что заблокировано и где нужен ответ.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4873752"/>
            <a:ext cx="11128248" cy="841248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148072"/>
            <a:ext cx="10469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BFF"/>
                </a:solidFill>
                <a:latin typeface="Aptos"/>
              </a:rPr>
              <a:t>Больше инструментов </a:t>
            </a:r>
            <a:r>
              <a:rPr sz="1800" b="1">
                <a:solidFill>
                  <a:srgbClr val="FF7182"/>
                </a:solidFill>
                <a:latin typeface="Aptos"/>
              </a:rPr>
              <a:t>≠</a:t>
            </a:r>
            <a:r>
              <a:rPr sz="1800" b="1">
                <a:solidFill>
                  <a:srgbClr val="F7FBFF"/>
                </a:solidFill>
                <a:latin typeface="Aptos"/>
              </a:rPr>
              <a:t> меньше ручной координации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Подключить. Делегировать. Проверить.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Teamora ведёт работу от цели до результата в одном контексте.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1874519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79091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865376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Подключить сервисы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240279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Интеграции настраиваются один раз.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29443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8939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93522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Делегировать цель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310127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Coordinator назначает роли и ведёт план.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014215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18787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F06A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00507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Проверить результат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79976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Статус, материалы и human approval.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87568" y="1700784"/>
            <a:ext cx="5971032" cy="4187952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929384"/>
            <a:ext cx="5577840" cy="278892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6016752" y="5020056"/>
            <a:ext cx="5285232" cy="0"/>
          </a:xfrm>
          <a:prstGeom prst="line">
            <a:avLst/>
          </a:prstGeom>
          <a:ln w="10160">
            <a:solidFill>
              <a:srgbClr val="C7D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53328" y="52395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038"/>
                </a:solidFill>
                <a:latin typeface="Aptos"/>
              </a:rPr>
              <a:t>Один контекст · специализированные роли · единый статус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321808"/>
            <a:ext cx="1883664" cy="32918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330952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9F06A"/>
                </a:solidFill>
                <a:latin typeface="Aptos"/>
              </a:rPr>
              <a:t>HUMAN-IN-THE-LOOP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КЛИЕНТ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Beachhead: агентства и студии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18488"/>
            <a:ext cx="11128248" cy="530352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10625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D6D2"/>
                </a:solidFill>
                <a:latin typeface="Aptos"/>
              </a:rPr>
              <a:t>ФОКУС  </a:t>
            </a:r>
            <a:r>
              <a:rPr sz="1000" b="1">
                <a:solidFill>
                  <a:srgbClr val="F7FBFF"/>
                </a:solidFill>
                <a:latin typeface="Aptos"/>
              </a:rPr>
              <a:t>5–50 сотрудников  ·  много клиентов  ·  повторяемые deliverables  ·  решение принимает владелец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524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Агентства и студии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Первый wedge: быстрый ROI на клиентской работе.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690872"/>
            <a:ext cx="93268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70001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контент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предложения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4690872"/>
            <a:ext cx="84124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470001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отчёты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E-commerce и D2C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Расширение после доказанного agency playbook.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17136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кампании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2704" y="4690872"/>
            <a:ext cx="93268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2704" y="470001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research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Услуги и эксперты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Расширение после подтверждённого self-serve.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4690872"/>
            <a:ext cx="676656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470001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лиды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34272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follow-up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публикации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733288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F879C"/>
                </a:solidFill>
                <a:latin typeface="Aptos"/>
              </a:rPr>
              <a:t>Сначала один повторяемый playbook — затем расширение по сегментам.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ПОЧЕМУ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Рынок созрел — внедрение всё ещё сложно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5D7CFF"/>
                </a:solidFill>
                <a:latin typeface="Aptos Display"/>
              </a:rPr>
              <a:t>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enterprise apps к 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могут включать agentic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4C95D"/>
                </a:solidFill>
                <a:latin typeface="Aptos Display"/>
              </a:rPr>
              <a:t>&gt;40%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agentic-проектов к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могут закрыться без ясного ROI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A9F06A"/>
                </a:solidFill>
                <a:latin typeface="Aptos Display"/>
              </a:rPr>
              <a:t>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важнее автономности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Побеждает продукт с быстрым результатом и контролем человека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4718304"/>
            <a:ext cx="11128248" cy="896112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20056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Окно Teamora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4956048"/>
            <a:ext cx="8732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7FBFF"/>
                </a:solidFill>
                <a:latin typeface="Aptos Display"/>
              </a:rPr>
              <a:t>Измеримый результат + простое подключение + контроль человека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6F879C"/>
                </a:solidFill>
                <a:latin typeface="Aptos"/>
              </a:rPr>
              <a:t>Источники: World Bank SME Finance; Gartner forecast, пересказ Reuters, 25.06.2025.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РЫНОК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Базовый сценарий: $24.8B 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Bottom-up модель на подтверждённой базе США + ЕС.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75104"/>
            <a:ext cx="3703320" cy="352044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340864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F879C"/>
                </a:solidFill>
                <a:latin typeface="Aptos"/>
              </a:rPr>
              <a:t>ПОДТВЕРЖДЁННАЯ БАЗА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569464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 Display"/>
              </a:rPr>
              <a:t>68.8M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0906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2A8BC"/>
                </a:solidFill>
                <a:latin typeface="Aptos"/>
              </a:rPr>
              <a:t>малых компаний в США + ЕС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" y="3575304"/>
            <a:ext cx="3081528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" y="384048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Digital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3831336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325112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Blended ARPA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431596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$1,800 / 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809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SAM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4800600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9432" y="1975104"/>
            <a:ext cx="7059168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215798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5D6D2"/>
                </a:solidFill>
                <a:latin typeface="Aptos"/>
              </a:rPr>
              <a:t>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248716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68.8M × 20% × $1,800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22199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D6D2"/>
                </a:solidFill>
                <a:latin typeface="Aptos Display"/>
              </a:rPr>
              <a:t>$24.8B ARR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3209544"/>
            <a:ext cx="6446520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9824" y="33924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D7CFF"/>
                </a:solidFill>
                <a:latin typeface="Aptos"/>
              </a:rPr>
              <a:t>SAM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372160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13.76M × 25% × $1,800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45643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D7CFF"/>
                </a:solidFill>
                <a:latin typeface="Aptos Display"/>
              </a:rPr>
              <a:t>$6.2B ARR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98464" y="4443984"/>
            <a:ext cx="5660136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46268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9F06A"/>
                </a:solidFill>
                <a:latin typeface="Aptos"/>
              </a:rPr>
              <a:t>SOM · 36 МЕС.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495604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10,000 клиентов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69087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9F06A"/>
                </a:solidFill>
                <a:latin typeface="Aptos Display"/>
              </a:rPr>
              <a:t>$18M ARR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" y="5824728"/>
            <a:ext cx="2496312" cy="301752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5833872"/>
            <a:ext cx="2496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4C95D"/>
                </a:solidFill>
                <a:latin typeface="Aptos"/>
              </a:rPr>
              <a:t>SOM — цель, не текущая выручка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65392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6F879C"/>
                </a:solidFill>
                <a:latin typeface="Aptos"/>
              </a:rPr>
              <a:t>База: SBA 2024 — 34.8M; European Commission / JRC 2025/26 — 34.0M SMEs.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БИЗНЕС-МОДЕЛЬ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Подписка расширяется вместе с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143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1 workspace · 5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Для первой команды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778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5D6D2"/>
                </a:solidFill>
                <a:latin typeface="Aptos"/>
              </a:rP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$149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07992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07992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3 teams · 15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Основной план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2029968"/>
            <a:ext cx="969264" cy="256032"/>
          </a:xfrm>
          <a:prstGeom prst="roundRect">
            <a:avLst>
              <a:gd name="adj" fmla="val 12000"/>
            </a:avLst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039112"/>
            <a:ext cx="9692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F7FBFF"/>
                </a:solidFill>
                <a:latin typeface="Aptos"/>
              </a:rPr>
              <a:t>TARGET MIX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143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8B6DFF"/>
                </a:solidFill>
                <a:latin typeface="Aptos"/>
              </a:rPr>
              <a:t>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$399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38744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38744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10 clients · 40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Для клиентской работы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10912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0056"/>
            <a:ext cx="1691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4C95D"/>
                </a:solidFill>
                <a:latin typeface="Aptos"/>
              </a:rPr>
              <a:t>PRICING HYPOTHESIS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495604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F879C"/>
                </a:solidFill>
                <a:latin typeface="Aptos"/>
              </a:rPr>
              <a:t>TARGET BLENDED ARPA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529437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D6D2"/>
                </a:solidFill>
                <a:latin typeface="Aptos"/>
              </a:rPr>
              <a:t>$150 / мес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95604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F879C"/>
                </a:solidFill>
                <a:latin typeface="Aptos"/>
              </a:rPr>
              <a:t>EXPANSION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529437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BFF"/>
                </a:solidFill>
                <a:latin typeface="Aptos"/>
              </a:rPr>
              <a:t>больше команд и выполненной работы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КОНКУРЕНЦИЯ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Широкий AI-офис, запуск за минуты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5468112"/>
            <a:ext cx="6656832" cy="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41248" y="1901952"/>
            <a:ext cx="0" cy="356616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69664" y="1901952"/>
            <a:ext cx="0" cy="356616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" y="3685032"/>
            <a:ext cx="6656832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504" y="5303520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УЗКАЯ ФУНКЦИЯ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60934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ШИРОКИЙ AI-ОФИС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50992"/>
            <a:ext cx="1527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СЛОЖНЫЙ ЗАПУСК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565099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ЗАПУСК ЗА МИНУТЫ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92807" y="4361688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92807" y="4370831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Vertical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4901184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4910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Zapier / Make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096512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1056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ChatGPT / Claude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9824" y="288036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2889503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B6DFF"/>
                </a:solidFill>
                <a:latin typeface="Aptos"/>
              </a:rPr>
              <a:t>Relevance / Lindy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2212848"/>
            <a:ext cx="1152144" cy="320040"/>
          </a:xfrm>
          <a:prstGeom prst="roundRect">
            <a:avLst>
              <a:gd name="adj" fmla="val 12000"/>
            </a:avLst>
          </a:prstGeom>
          <a:solidFill>
            <a:srgbClr val="0C737D"/>
          </a:solidFill>
          <a:ln w="101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221991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1901952"/>
            <a:ext cx="3721608" cy="35661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85416"/>
            <a:ext cx="2286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ДИФФЕРЕНЦИАЦИЯ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2779775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779775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276148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Business context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0" y="3383279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383279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364992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Role playbooks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3986783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986783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3968496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Integrations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0" y="4590288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590288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4572000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Approvals + task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50 design partners → платные клиенты → повторяемый канал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2" y="2441448"/>
            <a:ext cx="9820656" cy="0"/>
          </a:xfrm>
          <a:prstGeom prst="line">
            <a:avLst/>
          </a:prstGeom>
          <a:ln w="2540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9264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5D6D2"/>
                </a:solidFill>
                <a:latin typeface="Aptos"/>
              </a:rPr>
              <a:t>0–6 МЕС.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5D6D2"/>
                </a:solidFill>
                <a:latin typeface="Aptos"/>
              </a:rPr>
              <a:t>DESIGN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50 пилотных компаний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Founder-led sales · concierge onboarding</a:t>
            </a:r>
          </a:p>
        </p:txBody>
      </p:sp>
      <p:sp>
        <p:nvSpPr>
          <p:cNvPr id="17" name="Oval 16"/>
          <p:cNvSpPr/>
          <p:nvPr/>
        </p:nvSpPr>
        <p:spPr>
          <a:xfrm>
            <a:off x="4700016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D7CFF"/>
                </a:solidFill>
                <a:latin typeface="Aptos"/>
              </a:rPr>
              <a:t>6–18 МЕС.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D7CFF"/>
                </a:solidFill>
                <a:latin typeface="Aptos"/>
              </a:rPr>
              <a:t>REPEATABLE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Service SMBs · RU + 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Templates · referrals · agencies</a:t>
            </a:r>
          </a:p>
        </p:txBody>
      </p:sp>
      <p:sp>
        <p:nvSpPr>
          <p:cNvPr id="23" name="Oval 22"/>
          <p:cNvSpPr/>
          <p:nvPr/>
        </p:nvSpPr>
        <p:spPr>
          <a:xfrm>
            <a:off x="8430768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1856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9F06A"/>
                </a:solidFill>
                <a:latin typeface="Aptos"/>
              </a:rPr>
              <a:t>SCALE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A9F06A"/>
                </a:solidFill>
                <a:latin typeface="Aptos"/>
              </a:rPr>
              <a:t>RETENTION + ECONOMICS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Weekly value до paid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Paid conversion · retention · CAC payback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5084064"/>
            <a:ext cx="11128248" cy="713232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3095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5D6D2"/>
                </a:solidFill>
                <a:latin typeface="Aptos"/>
              </a:rPr>
              <a:t>GROWTH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5266944"/>
            <a:ext cx="9079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F7FBFF"/>
                </a:solidFill>
                <a:latin typeface="Aptos"/>
              </a:rPr>
              <a:t>Template → быстрый результат → кейс → рекомендация → новый template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ЦЕЛИ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36 месяцев до 10,000 платящих компаний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72768"/>
            <a:ext cx="2395728" cy="292608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23957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4C95D"/>
                </a:solidFill>
                <a:latin typeface="Aptos"/>
              </a:rPr>
              <a:t>ПЛАН · НЕ ТЕКУЩИЕ РЕЗУЛЬТАТЫ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2542032"/>
            <a:ext cx="9921240" cy="0"/>
          </a:xfrm>
          <a:prstGeom prst="line">
            <a:avLst/>
          </a:prstGeom>
          <a:ln w="2794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4400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5D6D2"/>
                </a:solidFill>
                <a:latin typeface="Aptos"/>
              </a:rPr>
              <a:t>0–6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352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50 pilots → paid
TTFV &lt; 15 мин</a:t>
            </a:r>
          </a:p>
        </p:txBody>
      </p:sp>
      <p:sp>
        <p:nvSpPr>
          <p:cNvPr id="19" name="Oval 18"/>
          <p:cNvSpPr/>
          <p:nvPr/>
        </p:nvSpPr>
        <p:spPr>
          <a:xfrm>
            <a:off x="3694176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D7CFF"/>
                </a:solidFill>
                <a:latin typeface="Aptos"/>
              </a:rPr>
              <a:t>6–12 мес.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10128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retention signal
$1.5–2M ARR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8B6DFF"/>
                </a:solidFill>
                <a:latin typeface="Aptos"/>
              </a:rPr>
              <a:t>12–24 мес.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9904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9904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repeatable acquisition
$8–10M ARR</a:t>
            </a:r>
          </a:p>
        </p:txBody>
      </p:sp>
      <p:sp>
        <p:nvSpPr>
          <p:cNvPr id="31" name="Oval 30"/>
          <p:cNvSpPr/>
          <p:nvPr/>
        </p:nvSpPr>
        <p:spPr>
          <a:xfrm>
            <a:off x="9253728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9F06A"/>
                </a:solidFill>
                <a:latin typeface="Aptos"/>
              </a:rPr>
              <a:t>24–36 мес.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69680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869680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$18M ARR
0.29% от SAM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5715000"/>
            <a:ext cx="11128248" cy="38404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24728"/>
            <a:ext cx="106710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92A8BC"/>
                </a:solidFill>
                <a:latin typeface="Aptos"/>
              </a:rPr>
              <a:t>Scale gates: TTFV &lt;15 мин  ·  6-month retention ≥80%  ·  CAC payback &lt;6 мес.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51392" y="-822960"/>
            <a:ext cx="4754880" cy="4754880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91440"/>
            <a:ext cx="3063240" cy="306324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4392" y="521207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4392" y="530352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A9F06A"/>
                </a:solidFill>
                <a:latin typeface="Aptos"/>
              </a:rPr>
              <a:t>VISION ·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Сделать AI-команду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6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стандартом для каждого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7543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5D6D2"/>
                </a:solidFill>
                <a:latin typeface="Aptos Display"/>
              </a:rPr>
              <a:t>малого бизнеса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13048"/>
            <a:ext cx="6949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2A8BC"/>
                </a:solidFill>
                <a:latin typeface="Aptos"/>
              </a:rPr>
              <a:t>Не ещё один инструмент — рабочая среда, которая превращает идеи в действия.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55464"/>
            <a:ext cx="10817352" cy="91440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66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5D6D2"/>
                </a:solidFill>
                <a:latin typeface="Aptos"/>
              </a:rPr>
              <a:t>БЛИЖАЙШИЙ ШАГ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508406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7FBFF"/>
                </a:solidFill>
                <a:latin typeface="Aptos Display"/>
              </a:rPr>
              <a:t>50 design partners → доказать ROI → масштабировать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8" y="624535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1143000"/>
            <a:ext cx="3749039" cy="3749039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94360"/>
            <a:ext cx="2560320" cy="2560320"/>
          </a:xfrm>
          <a:prstGeom prst="ellipse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5166360"/>
            <a:ext cx="2103120" cy="2103120"/>
          </a:xfrm>
          <a:prstGeom prst="ellipse">
            <a:avLst/>
          </a:prstGeom>
          <a:solidFill>
            <a:srgbClr val="08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Источники и ключевые допущения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ПОДТВЕРЖДЁННЫЕ 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396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121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World Bank · SME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214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SMEs ≈90% компаний и &gt;50% занятости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5694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28254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072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U.S. SBA · 2024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8072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34.8M малых бизнесов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32552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35112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4930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EC / JRC · SMEs 2025/26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930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34.0M SMEs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39410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41970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1788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Reuters / Gartner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1788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Agentic AI adoption + cancellation risk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4626864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48828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8646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Product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8646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Relevance AI · Zapier Agents · Lindy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5312664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63056" y="17190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6DFF"/>
                </a:solidFill>
                <a:latin typeface="Aptos"/>
              </a:rPr>
              <a:t>ДОПУЩЕНИЯ МОДЕЛИ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21214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DIGITAL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21214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20% базы США + ЕС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63056" y="25694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63056" y="28072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BLENDED ARPA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28072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$1,800 / год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63056" y="32552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63056" y="34930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SAM FILTER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34930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25% TAM-fit компаний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63056" y="39410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63056" y="41788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SOM TARGET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2672" y="41788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10,000 клиентов за 36 мес.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63056" y="4626864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0352" y="5788152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907024"/>
            <a:ext cx="106161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F879C"/>
                </a:solidFill>
                <a:latin typeface="Aptos"/>
              </a:rPr>
              <a:t>Planning scenario на 14.07.2026 · не оценка компании и не прогноз фактической выручки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Teamora AI — Investor Deck 2026</dc:title>
  <dc:subject>AI office for small business</dc:subject>
  <dc:creator>Teamora AI</dc:creator>
  <cp:keywords>Teamora, AI office, investor deck, SMB</cp:keywords>
  <dc:description>Redesigned and condensed investor deck. Planning targets are not current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