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572768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0C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76072"/>
            <a:ext cx="15727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INVESTOR DECK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93808" y="603504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7FBFF"/>
                </a:solidFill>
                <a:latin typeface="Aptos"/>
              </a:rPr>
              <a:t>TEAMORA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399032"/>
            <a:ext cx="61264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7FBFF"/>
                </a:solidFill>
                <a:latin typeface="Aptos Display"/>
              </a:rPr>
              <a:t>AI-команда, которая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029968"/>
            <a:ext cx="61264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500" b="1">
                <a:solidFill>
                  <a:srgbClr val="25D6D2"/>
                </a:solidFill>
                <a:latin typeface="Aptos Display"/>
              </a:rPr>
              <a:t>выполняет работу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0088"/>
            <a:ext cx="51663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2A8BC"/>
                </a:solidFill>
                <a:latin typeface="Aptos"/>
              </a:rPr>
              <a:t>Подключает рабочие сервисы, распределяет задачи между AI-ролями и показывает владельцу результат.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87368"/>
            <a:ext cx="1325880" cy="310896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096511"/>
            <a:ext cx="132588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7FBFF"/>
                </a:solidFill>
                <a:latin typeface="Aptos"/>
              </a:rPr>
              <a:t>SMB AI OFFICE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12264" y="4087368"/>
            <a:ext cx="1490472" cy="310896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12264" y="4096511"/>
            <a:ext cx="149047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7FBFF"/>
                </a:solidFill>
                <a:latin typeface="Aptos"/>
              </a:rPr>
              <a:t>HUMAN APPROVAL</a:t>
            </a:r>
          </a:p>
        </p:txBody>
      </p:sp>
      <p:cxnSp>
        <p:nvCxnSpPr>
          <p:cNvPr id="14" name="Connector 13"/>
          <p:cNvCxnSpPr/>
          <p:nvPr/>
        </p:nvCxnSpPr>
        <p:spPr>
          <a:xfrm flipH="1" flipV="1">
            <a:off x="7909559" y="1719072"/>
            <a:ext cx="978409" cy="1892808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342631" y="1417320"/>
            <a:ext cx="603504" cy="603504"/>
          </a:xfrm>
          <a:prstGeom prst="ellipse">
            <a:avLst/>
          </a:prstGeom>
          <a:solidFill>
            <a:srgbClr val="081A2B"/>
          </a:solidFill>
          <a:ln w="1905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1" y="1426464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5D6D2"/>
                </a:solidFill>
                <a:latin typeface="Aptos"/>
              </a:rP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5" y="211226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MARKETING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887968" y="1600200"/>
            <a:ext cx="1261872" cy="2011680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9582912" y="1298448"/>
            <a:ext cx="603504" cy="603504"/>
          </a:xfrm>
          <a:prstGeom prst="ellipse">
            <a:avLst/>
          </a:prstGeom>
          <a:solidFill>
            <a:srgbClr val="081A2B"/>
          </a:solidFill>
          <a:ln w="1905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82912" y="1307592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D7CFF"/>
                </a:solidFill>
                <a:latin typeface="Aptos"/>
              </a:rPr>
              <a:t>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63456" y="1993391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SALES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8887968" y="3364992"/>
            <a:ext cx="2231135" cy="246888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552176" y="3063240"/>
            <a:ext cx="603504" cy="603504"/>
          </a:xfrm>
          <a:prstGeom prst="ellipse">
            <a:avLst/>
          </a:prstGeom>
          <a:solidFill>
            <a:srgbClr val="081A2B"/>
          </a:solidFill>
          <a:ln w="19050">
            <a:solidFill>
              <a:srgbClr val="8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52176" y="3072384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B6DFF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9" y="375818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SUPPORT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87968" y="3611880"/>
            <a:ext cx="1152143" cy="1700784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9473184" y="5010912"/>
            <a:ext cx="603504" cy="603504"/>
          </a:xfrm>
          <a:prstGeom prst="ellipse">
            <a:avLst/>
          </a:prstGeom>
          <a:solidFill>
            <a:srgbClr val="081A2B"/>
          </a:solidFill>
          <a:ln w="1905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73184" y="5020056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A9F06A"/>
                </a:solidFill>
                <a:latin typeface="Aptos"/>
              </a:rPr>
              <a:t>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570585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RESEARCH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7680960" y="3611880"/>
            <a:ext cx="1207008" cy="1481328"/>
          </a:xfrm>
          <a:prstGeom prst="line">
            <a:avLst/>
          </a:prstGeom>
          <a:ln w="1587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7114032" y="4791456"/>
            <a:ext cx="603504" cy="603504"/>
          </a:xfrm>
          <a:prstGeom prst="ellipse">
            <a:avLst/>
          </a:prstGeom>
          <a:solidFill>
            <a:srgbClr val="081A2B"/>
          </a:solidFill>
          <a:ln w="19050">
            <a:solidFill>
              <a:srgbClr val="F4C9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14032" y="4800600"/>
            <a:ext cx="603504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4C95D"/>
                </a:solidFill>
                <a:latin typeface="Aptos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94576" y="548640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92A8BC"/>
                </a:solidFill>
                <a:latin typeface="Aptos"/>
              </a:rPr>
              <a:t>AUTOMATION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0" y="2953512"/>
            <a:ext cx="1316736" cy="1316736"/>
          </a:xfrm>
          <a:prstGeom prst="ellipse">
            <a:avLst/>
          </a:prstGeom>
          <a:solidFill>
            <a:srgbClr val="0C737D"/>
          </a:solidFill>
          <a:ln w="2286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03336" y="3127248"/>
            <a:ext cx="969264" cy="969264"/>
          </a:xfrm>
          <a:prstGeom prst="ellipse">
            <a:avLst/>
          </a:prstGeom>
          <a:solidFill>
            <a:srgbClr val="0B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3336" y="3429000"/>
            <a:ext cx="96926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7FBFF"/>
                </a:solidFill>
                <a:latin typeface="Aptos"/>
              </a:rPr>
              <a:t>TEAMORA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3703320"/>
            <a:ext cx="124358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1">
                <a:solidFill>
                  <a:srgbClr val="25D6D2"/>
                </a:solidFill>
                <a:latin typeface="Aptos"/>
              </a:rPr>
              <a:t>COORDINATOR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" y="624535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F879C"/>
                </a:solidFill>
                <a:latin typeface="Aptos"/>
              </a:rPr>
              <a:t>teamora.ai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ТЕЗИС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От запроса — к выполненной работе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17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92A8BC"/>
                </a:solidFill>
                <a:latin typeface="Aptos"/>
              </a:rPr>
              <a:t>Teamora — операционный слой между целью владельца и его рабочими сервисами.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49424"/>
            <a:ext cx="2587752" cy="2121408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0664" y="2487168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4917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3063240"/>
            <a:ext cx="21671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D6D2"/>
                </a:solidFill>
                <a:latin typeface="Aptos"/>
              </a:rPr>
              <a:t>ЦЕЛЬ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" y="3465576"/>
            <a:ext cx="21671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F7FBFF"/>
                </a:solidFill>
                <a:latin typeface="Aptos Display"/>
              </a:rPr>
              <a:t>Описать нужный результат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18104" y="3310128"/>
            <a:ext cx="182880" cy="0"/>
          </a:xfrm>
          <a:prstGeom prst="line">
            <a:avLst/>
          </a:prstGeom>
          <a:ln w="19050">
            <a:solidFill>
              <a:srgbClr val="0C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00984" y="2249424"/>
            <a:ext cx="2587752" cy="2121408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11296" y="2487168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11296" y="24917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1296" y="3063240"/>
            <a:ext cx="21671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D6D2"/>
                </a:solidFill>
                <a:latin typeface="Aptos"/>
              </a:rPr>
              <a:t>ПЛАН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296" y="3465576"/>
            <a:ext cx="21671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F7FBFF"/>
                </a:solidFill>
                <a:latin typeface="Aptos Display"/>
              </a:rPr>
              <a:t>Разбить работу на роли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88736" y="3310128"/>
            <a:ext cx="182880" cy="0"/>
          </a:xfrm>
          <a:prstGeom prst="line">
            <a:avLst/>
          </a:prstGeom>
          <a:ln w="19050">
            <a:solidFill>
              <a:srgbClr val="0C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071616" y="2249424"/>
            <a:ext cx="2587752" cy="2121408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281928" y="2487168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24917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3063240"/>
            <a:ext cx="21671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D6D2"/>
                </a:solidFill>
                <a:latin typeface="Aptos"/>
              </a:rPr>
              <a:t>ИСПОЛНЕНИЕ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1928" y="3465576"/>
            <a:ext cx="21671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F7FBFF"/>
                </a:solidFill>
                <a:latin typeface="Aptos Display"/>
              </a:rPr>
              <a:t>Сделать в подключённых сервисах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59368" y="3310128"/>
            <a:ext cx="182880" cy="0"/>
          </a:xfrm>
          <a:prstGeom prst="line">
            <a:avLst/>
          </a:prstGeom>
          <a:ln w="19050">
            <a:solidFill>
              <a:srgbClr val="0C73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842248" y="2249424"/>
            <a:ext cx="2587752" cy="2121408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052560" y="2487168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0" y="2491740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3063240"/>
            <a:ext cx="216712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5D6D2"/>
                </a:solidFill>
                <a:latin typeface="Aptos"/>
              </a:rPr>
              <a:t>КОНТРОЛЬ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3465576"/>
            <a:ext cx="216712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>
                <a:solidFill>
                  <a:srgbClr val="F7FBFF"/>
                </a:solidFill>
                <a:latin typeface="Aptos Display"/>
              </a:rPr>
              <a:t>Показать статус и запросить approval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0352" y="4864608"/>
            <a:ext cx="11128248" cy="822960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2700">
            <a:solidFill>
              <a:srgbClr val="0C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5148072"/>
            <a:ext cx="104698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92A8BC"/>
                </a:solidFill>
                <a:latin typeface="Aptos"/>
              </a:rPr>
              <a:t>Не чат. Не конструктор workflow. </a:t>
            </a:r>
            <a:r>
              <a:rPr sz="1500" b="1">
                <a:solidFill>
                  <a:srgbClr val="F7FBFF"/>
                </a:solidFill>
                <a:latin typeface="Aptos"/>
              </a:rPr>
              <a:t>Готовый AI-офис для малого бизнеса.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Владелец всё ещё остаётся диспетчером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17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92A8BC"/>
                </a:solidFill>
                <a:latin typeface="Aptos"/>
              </a:rPr>
              <a:t>Чаты, подрядчики и автоматизации не складываются в единый процесс.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2221992"/>
            <a:ext cx="3456432" cy="219456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87168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182"/>
                </a:solidFill>
                <a:latin typeface="Aptos"/>
              </a:rPr>
              <a:t>01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8096" y="2907792"/>
            <a:ext cx="2926080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8096" y="3154680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F7FBFF"/>
                </a:solidFill>
                <a:latin typeface="Aptos Display"/>
              </a:rPr>
              <a:t>Контекст теряется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639312"/>
            <a:ext cx="29077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92A8BC"/>
                </a:solidFill>
                <a:latin typeface="Aptos"/>
              </a:rPr>
              <a:t>Задачу приходится объяснять заново каждому человеку и сервису.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2221992"/>
            <a:ext cx="3456432" cy="219456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2487168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182"/>
                </a:solidFill>
                <a:latin typeface="Aptos"/>
              </a:rPr>
              <a:t>02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89704" y="2907792"/>
            <a:ext cx="2926079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89704" y="3154680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F7FBFF"/>
                </a:solidFill>
                <a:latin typeface="Aptos Display"/>
              </a:rPr>
              <a:t>Работа нерегулярна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9704" y="3639312"/>
            <a:ext cx="29077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92A8BC"/>
                </a:solidFill>
                <a:latin typeface="Aptos"/>
              </a:rPr>
              <a:t>Маркетинг и follow-up зависят от свободного времени владельца.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2221992"/>
            <a:ext cx="3456432" cy="219456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2487168"/>
            <a:ext cx="40233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7182"/>
                </a:solidFill>
                <a:latin typeface="Aptos"/>
              </a:rPr>
              <a:t>03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211312" y="2907792"/>
            <a:ext cx="2926080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211312" y="3154680"/>
            <a:ext cx="290779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>
                <a:solidFill>
                  <a:srgbClr val="F7FBFF"/>
                </a:solidFill>
                <a:latin typeface="Aptos Display"/>
              </a:rPr>
              <a:t>Результат не прозрачен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3639312"/>
            <a:ext cx="2907792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0">
                <a:solidFill>
                  <a:srgbClr val="92A8BC"/>
                </a:solidFill>
                <a:latin typeface="Aptos"/>
              </a:rPr>
              <a:t>Непонятно, что готово, что заблокировано и где нужен ответ.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" y="4873752"/>
            <a:ext cx="11128248" cy="841248"/>
          </a:xfrm>
          <a:prstGeom prst="roundRect">
            <a:avLst>
              <a:gd name="adj" fmla="val 12000"/>
            </a:avLst>
          </a:prstGeom>
          <a:solidFill>
            <a:srgbClr val="03101B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" y="5148072"/>
            <a:ext cx="1046988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7FBFF"/>
                </a:solidFill>
                <a:latin typeface="Aptos"/>
              </a:rPr>
              <a:t>Больше инструментов </a:t>
            </a:r>
            <a:r>
              <a:rPr sz="1800" b="1">
                <a:solidFill>
                  <a:srgbClr val="FF7182"/>
                </a:solidFill>
                <a:latin typeface="Aptos"/>
              </a:rPr>
              <a:t>≠</a:t>
            </a:r>
            <a:r>
              <a:rPr sz="1800" b="1">
                <a:solidFill>
                  <a:srgbClr val="F7FBFF"/>
                </a:solidFill>
                <a:latin typeface="Aptos"/>
              </a:rPr>
              <a:t> меньше ручной координации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Подключить. Делегировать. Проверить.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17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92A8BC"/>
                </a:solidFill>
                <a:latin typeface="Aptos"/>
              </a:rPr>
              <a:t>Teamora ведёт работу от цели до результата в одном контексте.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1874519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879091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865376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BFF"/>
                </a:solidFill>
                <a:latin typeface="Aptos Display"/>
              </a:rPr>
              <a:t>Подключить сервисы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2240279"/>
            <a:ext cx="4251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92A8BC"/>
                </a:solidFill>
                <a:latin typeface="Aptos"/>
              </a:rPr>
              <a:t>Интеграции настраиваются один раз.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2944368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48939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2935224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BFF"/>
                </a:solidFill>
                <a:latin typeface="Aptos Display"/>
              </a:rPr>
              <a:t>Делегировать цель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310127"/>
            <a:ext cx="4251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92A8BC"/>
                </a:solidFill>
                <a:latin typeface="Aptos"/>
              </a:rPr>
              <a:t>Coordinator назначает роли и ведёт план.</a:t>
            </a:r>
          </a:p>
        </p:txBody>
      </p:sp>
      <p:sp>
        <p:nvSpPr>
          <p:cNvPr id="18" name="Oval 17"/>
          <p:cNvSpPr/>
          <p:nvPr/>
        </p:nvSpPr>
        <p:spPr>
          <a:xfrm>
            <a:off x="566928" y="4014215"/>
            <a:ext cx="384048" cy="384048"/>
          </a:xfrm>
          <a:prstGeom prst="ellipse">
            <a:avLst/>
          </a:prstGeom>
          <a:solidFill>
            <a:srgbClr val="102A42"/>
          </a:solidFill>
          <a:ln w="1270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4018787"/>
            <a:ext cx="38404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A9F06A"/>
                </a:solidFill>
                <a:latin typeface="Apto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4005072"/>
            <a:ext cx="4160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7FBFF"/>
                </a:solidFill>
                <a:latin typeface="Aptos Display"/>
              </a:rPr>
              <a:t>Проверить результат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379976"/>
            <a:ext cx="4251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>
                <a:solidFill>
                  <a:srgbClr val="92A8BC"/>
                </a:solidFill>
                <a:latin typeface="Aptos"/>
              </a:rPr>
              <a:t>Статус, материалы и human approval.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87568" y="1700784"/>
            <a:ext cx="5971032" cy="4187952"/>
          </a:xfrm>
          <a:prstGeom prst="roundRect">
            <a:avLst>
              <a:gd name="adj" fmla="val 12000"/>
            </a:avLst>
          </a:prstGeom>
          <a:solidFill>
            <a:srgbClr val="EEF4F8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off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1929384"/>
            <a:ext cx="5577840" cy="2788920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6016752" y="5020056"/>
            <a:ext cx="5285232" cy="0"/>
          </a:xfrm>
          <a:prstGeom prst="line">
            <a:avLst/>
          </a:prstGeom>
          <a:ln w="10160">
            <a:solidFill>
              <a:srgbClr val="C7D5E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053328" y="5239512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>
                <a:solidFill>
                  <a:srgbClr val="102038"/>
                </a:solidFill>
                <a:latin typeface="Aptos"/>
              </a:rPr>
              <a:t>Один контекст · специализированные роли · единый статус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5321808"/>
            <a:ext cx="1883664" cy="32918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330952"/>
            <a:ext cx="1883664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A9F06A"/>
                </a:solidFill>
                <a:latin typeface="Aptos"/>
              </a:rPr>
              <a:t>HUMAN-IN-THE-LOOP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КЛИЕНТ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Beachhead: агентства и студии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618488"/>
            <a:ext cx="11128248" cy="530352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2700">
            <a:solidFill>
              <a:srgbClr val="0C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783080"/>
            <a:ext cx="1062532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D6D2"/>
                </a:solidFill>
                <a:latin typeface="Aptos"/>
              </a:rPr>
              <a:t>ФОКУС  </a:t>
            </a:r>
            <a:r>
              <a:rPr sz="1000" b="1">
                <a:solidFill>
                  <a:srgbClr val="F7FBFF"/>
                </a:solidFill>
                <a:latin typeface="Aptos"/>
              </a:rPr>
              <a:t>5–50 сотрудников  ·  много клиентов  ·  повторяемые deliverables  ·  решение принимает владелец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2459736"/>
            <a:ext cx="3465576" cy="2825496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524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7249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D6D2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182112"/>
            <a:ext cx="290779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BFF"/>
                </a:solidFill>
                <a:latin typeface="Aptos Display"/>
              </a:rPr>
              <a:t>Агентства и студии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858768"/>
            <a:ext cx="28712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92A8BC"/>
                </a:solidFill>
                <a:latin typeface="Aptos"/>
              </a:rPr>
              <a:t>Первый wedge: быстрый ROI на клиентской работе.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690872"/>
            <a:ext cx="932688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700016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контент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4690872"/>
            <a:ext cx="1005840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47000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предложения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44368" y="4690872"/>
            <a:ext cx="841248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944368" y="4700016"/>
            <a:ext cx="8412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отчёты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61104" y="2459736"/>
            <a:ext cx="3465576" cy="2825496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6" y="27249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3182112"/>
            <a:ext cx="290779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BFF"/>
                </a:solidFill>
                <a:latin typeface="Aptos Display"/>
              </a:rPr>
              <a:t>E-commerce и D2C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3858768"/>
            <a:ext cx="28712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92A8BC"/>
                </a:solidFill>
                <a:latin typeface="Aptos"/>
              </a:rPr>
              <a:t>Расширение после доказанного agency playbook.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17136" y="4690872"/>
            <a:ext cx="1005840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17136" y="47000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кампании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32704" y="4690872"/>
            <a:ext cx="932688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32704" y="4700016"/>
            <a:ext cx="93268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support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4690872"/>
            <a:ext cx="1005840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47000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research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91856" y="2459736"/>
            <a:ext cx="3465576" cy="2825496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7888" y="2724912"/>
            <a:ext cx="56692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NEXT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7888" y="3182112"/>
            <a:ext cx="290779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7FBFF"/>
                </a:solidFill>
                <a:latin typeface="Aptos Display"/>
              </a:rPr>
              <a:t>Услуги и эксперты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3858768"/>
            <a:ext cx="2871216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>
                <a:solidFill>
                  <a:srgbClr val="92A8BC"/>
                </a:solidFill>
                <a:latin typeface="Aptos"/>
              </a:rPr>
              <a:t>Расширение после подтверждённого self-serve.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47888" y="4690872"/>
            <a:ext cx="676656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8" y="4700016"/>
            <a:ext cx="67665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лиды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34272" y="4690872"/>
            <a:ext cx="1005840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34272" y="47000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follow-up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49840" y="4690872"/>
            <a:ext cx="1005840" cy="283464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470001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25D6D2"/>
                </a:solidFill>
                <a:latin typeface="Aptos"/>
              </a:rPr>
              <a:t>публикации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733288"/>
            <a:ext cx="749807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>
                <a:solidFill>
                  <a:srgbClr val="6F879C"/>
                </a:solidFill>
                <a:latin typeface="Aptos"/>
              </a:rPr>
              <a:t>Сначала один повторяемый playbook — затем расширение по сегментам.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ПОЧЕМУ СЕЙЧАС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Рынок созрел — внедрение всё ещё сложно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865376"/>
            <a:ext cx="3465576" cy="2432304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28803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5D7CFF"/>
                </a:solidFill>
                <a:latin typeface="Aptos Display"/>
              </a:rPr>
              <a:t>33%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53512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7FBFF"/>
                </a:solidFill>
                <a:latin typeface="Aptos"/>
              </a:rPr>
              <a:t>enterprise apps к 2028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29000"/>
            <a:ext cx="2852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92A8BC"/>
                </a:solidFill>
                <a:latin typeface="Aptos"/>
              </a:rPr>
              <a:t>могут включать agentic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1104" y="1865376"/>
            <a:ext cx="3465576" cy="2432304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212848"/>
            <a:ext cx="28803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4C95D"/>
                </a:solidFill>
                <a:latin typeface="Aptos Display"/>
              </a:rPr>
              <a:t>&gt;40%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2953512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7FBFF"/>
                </a:solidFill>
                <a:latin typeface="Aptos"/>
              </a:rPr>
              <a:t>agentic-проектов к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3429000"/>
            <a:ext cx="2852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92A8BC"/>
                </a:solidFill>
                <a:latin typeface="Aptos"/>
              </a:rPr>
              <a:t>могут закрыться без ясного ROI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91856" y="1865376"/>
            <a:ext cx="3465576" cy="2432304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38744" y="2212848"/>
            <a:ext cx="288036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A9F06A"/>
                </a:solidFill>
                <a:latin typeface="Aptos Display"/>
              </a:rPr>
              <a:t>ROI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953512"/>
            <a:ext cx="288036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1">
                <a:solidFill>
                  <a:srgbClr val="F7FBFF"/>
                </a:solidFill>
                <a:latin typeface="Aptos"/>
              </a:rPr>
              <a:t>важнее автономности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3429000"/>
            <a:ext cx="285292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>
                <a:solidFill>
                  <a:srgbClr val="92A8BC"/>
                </a:solidFill>
                <a:latin typeface="Aptos"/>
              </a:rPr>
              <a:t>Побеждает продукт с быстрым результатом и контролем человека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4718304"/>
            <a:ext cx="11128248" cy="896112"/>
          </a:xfrm>
          <a:prstGeom prst="roundRect">
            <a:avLst>
              <a:gd name="adj" fmla="val 12000"/>
            </a:avLst>
          </a:prstGeom>
          <a:solidFill>
            <a:srgbClr val="03101B"/>
          </a:solidFill>
          <a:ln w="12700">
            <a:solidFill>
              <a:srgbClr val="0C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020056"/>
            <a:ext cx="1572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5D6D2"/>
                </a:solidFill>
                <a:latin typeface="Aptos"/>
              </a:rPr>
              <a:t>Окно Teamora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0592" y="4956048"/>
            <a:ext cx="8732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F7FBFF"/>
                </a:solidFill>
                <a:latin typeface="Aptos Display"/>
              </a:rPr>
              <a:t>Измеримый результат + простое подключение + контроль человека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" y="6565392"/>
            <a:ext cx="10789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6F879C"/>
                </a:solidFill>
                <a:latin typeface="Aptos"/>
              </a:rPr>
              <a:t>Источники: World Bank SME Finance; Gartner forecast, пересказ Reuters, 25.06.2025.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РЫНОК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Базовый сценарий: $24.8B TAM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517904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>
                <a:solidFill>
                  <a:srgbClr val="92A8BC"/>
                </a:solidFill>
                <a:latin typeface="Aptos"/>
              </a:rPr>
              <a:t>Bottom-up модель на подтверждённой базе США + ЕС.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1975104"/>
            <a:ext cx="3703320" cy="352044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2340864"/>
            <a:ext cx="2057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6F879C"/>
                </a:solidFill>
                <a:latin typeface="Aptos"/>
              </a:rPr>
              <a:t>ПОДТВЕРЖДЁННАЯ БАЗА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2569464"/>
            <a:ext cx="2057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7FBFF"/>
                </a:solidFill>
                <a:latin typeface="Aptos Display"/>
              </a:rPr>
              <a:t>68.8M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3090672"/>
            <a:ext cx="2560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92A8BC"/>
                </a:solidFill>
                <a:latin typeface="Aptos"/>
              </a:rPr>
              <a:t>малых компаний в США + ЕС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32104" y="3575304"/>
            <a:ext cx="3081528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32104" y="3840480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F879C"/>
                </a:solidFill>
                <a:latin typeface="Aptos"/>
              </a:rPr>
              <a:t>Digital 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13432" y="3831336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7FBFF"/>
                </a:solidFill>
                <a:latin typeface="Aptos"/>
              </a:rPr>
              <a:t>20%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" y="4325112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F879C"/>
                </a:solidFill>
                <a:latin typeface="Aptos"/>
              </a:rPr>
              <a:t>Blended ARPA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13432" y="4315968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7FBFF"/>
                </a:solidFill>
                <a:latin typeface="Aptos"/>
              </a:rPr>
              <a:t>$1,800 / год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" y="4809744"/>
            <a:ext cx="14081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6F879C"/>
                </a:solidFill>
                <a:latin typeface="Aptos"/>
              </a:rPr>
              <a:t>SAM filter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3432" y="4800600"/>
            <a:ext cx="13075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F7FBFF"/>
                </a:solidFill>
                <a:latin typeface="Aptos"/>
              </a:rPr>
              <a:t>25%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99432" y="1975104"/>
            <a:ext cx="7059168" cy="96012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397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7176" y="215798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5D6D2"/>
                </a:solidFill>
                <a:latin typeface="Aptos"/>
              </a:rPr>
              <a:t>TAM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7176" y="2487168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2A8BC"/>
                </a:solidFill>
                <a:latin typeface="Aptos"/>
              </a:rPr>
              <a:t>68.8M × 20% × $1,800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2221992"/>
            <a:ext cx="18745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D6D2"/>
                </a:solidFill>
                <a:latin typeface="Aptos Display"/>
              </a:rPr>
              <a:t>$24.8B ARR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12080" y="3209544"/>
            <a:ext cx="6446520" cy="96012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397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49824" y="339242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D7CFF"/>
                </a:solidFill>
                <a:latin typeface="Aptos"/>
              </a:rPr>
              <a:t>SAM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9824" y="3721608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2A8BC"/>
                </a:solidFill>
                <a:latin typeface="Aptos"/>
              </a:rPr>
              <a:t>13.76M × 25% × $1,800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456432"/>
            <a:ext cx="18745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D7CFF"/>
                </a:solidFill>
                <a:latin typeface="Aptos Display"/>
              </a:rPr>
              <a:t>$6.2B ARR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98464" y="4443984"/>
            <a:ext cx="5660136" cy="96012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397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36207" y="4626864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A9F06A"/>
                </a:solidFill>
                <a:latin typeface="Aptos"/>
              </a:rPr>
              <a:t>SOM · 36 МЕС.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7" y="4956048"/>
            <a:ext cx="329184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92A8BC"/>
                </a:solidFill>
                <a:latin typeface="Aptos"/>
              </a:rPr>
              <a:t>10,000 клиентов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690872"/>
            <a:ext cx="1874519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A9F06A"/>
                </a:solidFill>
                <a:latin typeface="Aptos Display"/>
              </a:rPr>
              <a:t>$18M ARR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" y="5824728"/>
            <a:ext cx="2496312" cy="301752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7784" y="5833872"/>
            <a:ext cx="24963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F4C95D"/>
                </a:solidFill>
                <a:latin typeface="Aptos"/>
              </a:rPr>
              <a:t>SOM — цель, не текущая выручка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6565392"/>
            <a:ext cx="10789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70" b="0">
                <a:solidFill>
                  <a:srgbClr val="6F879C"/>
                </a:solidFill>
                <a:latin typeface="Aptos"/>
              </a:rPr>
              <a:t>База: SBA 2024 — 34.8M; European Commission / JRC 2025/26 — 34.0M SMEs.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БИЗНЕС-МОДЕЛЬ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Подписка расширяется вместе с командой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810512"/>
            <a:ext cx="3465576" cy="288036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143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075688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92A8BC"/>
                </a:solidFill>
                <a:latin typeface="Aptos"/>
              </a:rP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87752"/>
            <a:ext cx="2011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7FBFF"/>
                </a:solidFill>
                <a:latin typeface="Aptos Display"/>
              </a:rPr>
              <a:t>$29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5688" y="287121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2A8BC"/>
                </a:solidFill>
                <a:latin typeface="Aptos"/>
              </a:rPr>
              <a:t>/ месяц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337560"/>
            <a:ext cx="2916936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602736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7FBFF"/>
                </a:solidFill>
                <a:latin typeface="Aptos"/>
              </a:rPr>
              <a:t>1 workspace · 5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78224"/>
            <a:ext cx="2834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2A8BC"/>
                </a:solidFill>
                <a:latin typeface="Aptos"/>
              </a:rPr>
              <a:t>Для первой команды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61104" y="1810512"/>
            <a:ext cx="3465576" cy="2880360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778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2075688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25D6D2"/>
                </a:solidFill>
                <a:latin typeface="Aptos"/>
              </a:rPr>
              <a:t>BUSINESS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2587752"/>
            <a:ext cx="2011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7FBFF"/>
                </a:solidFill>
                <a:latin typeface="Aptos Display"/>
              </a:rPr>
              <a:t>$149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87121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2A8BC"/>
                </a:solidFill>
                <a:latin typeface="Aptos"/>
              </a:rPr>
              <a:t>/ месяц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07992" y="3337560"/>
            <a:ext cx="2916936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07992" y="3602736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7FBFF"/>
                </a:solidFill>
                <a:latin typeface="Aptos"/>
              </a:rPr>
              <a:t>3 teams · 15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07992" y="4078224"/>
            <a:ext cx="2834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2A8BC"/>
                </a:solidFill>
                <a:latin typeface="Aptos"/>
              </a:rPr>
              <a:t>Основной план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19088" y="2029968"/>
            <a:ext cx="969264" cy="256032"/>
          </a:xfrm>
          <a:prstGeom prst="roundRect">
            <a:avLst>
              <a:gd name="adj" fmla="val 12000"/>
            </a:avLst>
          </a:prstGeom>
          <a:solidFill>
            <a:srgbClr val="0C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2039112"/>
            <a:ext cx="96926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>
                <a:solidFill>
                  <a:srgbClr val="F7FBFF"/>
                </a:solidFill>
                <a:latin typeface="Aptos"/>
              </a:rPr>
              <a:t>TARGET MIX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91856" y="1810512"/>
            <a:ext cx="3465576" cy="288036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143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38744" y="2075688"/>
            <a:ext cx="21945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8B6DFF"/>
                </a:solidFill>
                <a:latin typeface="Aptos"/>
              </a:rPr>
              <a:t>AGENCY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2587752"/>
            <a:ext cx="201168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7FBFF"/>
                </a:solidFill>
                <a:latin typeface="Aptos Display"/>
              </a:rPr>
              <a:t>$399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2871216"/>
            <a:ext cx="1005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2A8BC"/>
                </a:solidFill>
                <a:latin typeface="Aptos"/>
              </a:rPr>
              <a:t>/ месяц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38744" y="3337560"/>
            <a:ext cx="2916936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38744" y="3602736"/>
            <a:ext cx="28346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7FBFF"/>
                </a:solidFill>
                <a:latin typeface="Aptos"/>
              </a:rPr>
              <a:t>10 clients · 40 agents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4078224"/>
            <a:ext cx="283464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92A8BC"/>
                </a:solidFill>
                <a:latin typeface="Aptos"/>
              </a:rPr>
              <a:t>Для клиентской работы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010912"/>
            <a:ext cx="1691640" cy="310896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020056"/>
            <a:ext cx="169164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4C95D"/>
                </a:solidFill>
                <a:latin typeface="Aptos"/>
              </a:rPr>
              <a:t>PRICING HYPOTHESIS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2928" y="495604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6F879C"/>
                </a:solidFill>
                <a:latin typeface="Aptos"/>
              </a:rPr>
              <a:t>TARGET BLENDED ARPA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2928" y="5294376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D6D2"/>
                </a:solidFill>
                <a:latin typeface="Aptos"/>
              </a:rPr>
              <a:t>$150 / мес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956048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>
                <a:solidFill>
                  <a:srgbClr val="6F879C"/>
                </a:solidFill>
                <a:latin typeface="Aptos"/>
              </a:rPr>
              <a:t>EXPANSION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5294376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7FBFF"/>
                </a:solidFill>
                <a:latin typeface="Aptos"/>
              </a:rPr>
              <a:t>больше команд и выполненной работы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КОНКУРЕНЦИЯ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09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Широкий AI-офис, запуск за минуты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1248" y="5468112"/>
            <a:ext cx="6656832" cy="0"/>
          </a:xfrm>
          <a:prstGeom prst="line">
            <a:avLst/>
          </a:prstGeom>
          <a:ln w="13970">
            <a:solidFill>
              <a:srgbClr val="6F8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41248" y="1901952"/>
            <a:ext cx="0" cy="3566160"/>
          </a:xfrm>
          <a:prstGeom prst="line">
            <a:avLst/>
          </a:prstGeom>
          <a:ln w="13970">
            <a:solidFill>
              <a:srgbClr val="6F8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69664" y="1901952"/>
            <a:ext cx="0" cy="356616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41248" y="3685032"/>
            <a:ext cx="6656832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3504" y="5303520"/>
            <a:ext cx="12984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6F879C"/>
                </a:solidFill>
                <a:latin typeface="Aptos"/>
              </a:rPr>
              <a:t>УЗКАЯ ФУНКЦИЯ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1609344"/>
            <a:ext cx="1536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6F879C"/>
                </a:solidFill>
                <a:latin typeface="Aptos"/>
              </a:rPr>
              <a:t>ШИРОКИЙ AI-ОФИС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650992"/>
            <a:ext cx="1527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6F879C"/>
                </a:solidFill>
                <a:latin typeface="Aptos"/>
              </a:rPr>
              <a:t>СЛОЖНЫЙ ЗАПУСК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5650992"/>
            <a:ext cx="166420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>
                <a:solidFill>
                  <a:srgbClr val="6F879C"/>
                </a:solidFill>
                <a:latin typeface="Aptos"/>
              </a:rPr>
              <a:t>ЗАПУСК ЗА МИНУТЫ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92807" y="4361688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92807" y="4370831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2A8BC"/>
                </a:solidFill>
                <a:latin typeface="Aptos"/>
              </a:rPr>
              <a:t>Vertical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16352" y="4901184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6352" y="4910328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2A8BC"/>
                </a:solidFill>
                <a:latin typeface="Aptos"/>
              </a:rPr>
              <a:t>Zapier / Make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4096512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105656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92A8BC"/>
                </a:solidFill>
                <a:latin typeface="Aptos"/>
              </a:rPr>
              <a:t>ChatGPT / Claude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9824" y="2880360"/>
            <a:ext cx="1371600" cy="320040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9824" y="2889503"/>
            <a:ext cx="13716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8B6DFF"/>
                </a:solidFill>
                <a:latin typeface="Aptos"/>
              </a:rPr>
              <a:t>Relevance / Lindy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2212848"/>
            <a:ext cx="1152144" cy="320040"/>
          </a:xfrm>
          <a:prstGeom prst="roundRect">
            <a:avLst>
              <a:gd name="adj" fmla="val 12000"/>
            </a:avLst>
          </a:prstGeom>
          <a:solidFill>
            <a:srgbClr val="0C737D"/>
          </a:solidFill>
          <a:ln w="1016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5352" y="2221991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7FBFF"/>
                </a:solidFill>
                <a:latin typeface="Aptos"/>
              </a:rPr>
              <a:t>TEAMORA AI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36992" y="1901952"/>
            <a:ext cx="3721608" cy="356616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2185416"/>
            <a:ext cx="22860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D6D2"/>
                </a:solidFill>
                <a:latin typeface="Aptos"/>
              </a:rPr>
              <a:t>ДИФФЕРЕНЦИАЦИЯ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0" y="2779775"/>
            <a:ext cx="219456" cy="219456"/>
          </a:xfrm>
          <a:prstGeom prst="ellipse">
            <a:avLst/>
          </a:prstGeom>
          <a:solidFill>
            <a:srgbClr val="0C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779775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5D6D2"/>
                </a:solidFill>
                <a:latin typeface="Aptos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13648" y="2761488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7FBFF"/>
                </a:solidFill>
                <a:latin typeface="Aptos"/>
              </a:rPr>
              <a:t>Business context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0" y="3383279"/>
            <a:ext cx="219456" cy="219456"/>
          </a:xfrm>
          <a:prstGeom prst="ellipse">
            <a:avLst/>
          </a:prstGeom>
          <a:solidFill>
            <a:srgbClr val="0C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3383279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5D6D2"/>
                </a:solidFill>
                <a:latin typeface="Aptos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13648" y="3364992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7FBFF"/>
                </a:solidFill>
                <a:latin typeface="Aptos"/>
              </a:rPr>
              <a:t>Role playbooks</a:t>
            </a:r>
          </a:p>
        </p:txBody>
      </p:sp>
      <p:sp>
        <p:nvSpPr>
          <p:cNvPr id="35" name="Oval 34"/>
          <p:cNvSpPr/>
          <p:nvPr/>
        </p:nvSpPr>
        <p:spPr>
          <a:xfrm>
            <a:off x="8229600" y="3986783"/>
            <a:ext cx="219456" cy="219456"/>
          </a:xfrm>
          <a:prstGeom prst="ellipse">
            <a:avLst/>
          </a:prstGeom>
          <a:solidFill>
            <a:srgbClr val="0C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986783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5D6D2"/>
                </a:solidFill>
                <a:latin typeface="Aptos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3648" y="3968496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7FBFF"/>
                </a:solidFill>
                <a:latin typeface="Aptos"/>
              </a:rPr>
              <a:t>Integrations</a:t>
            </a:r>
          </a:p>
        </p:txBody>
      </p:sp>
      <p:sp>
        <p:nvSpPr>
          <p:cNvPr id="38" name="Oval 37"/>
          <p:cNvSpPr/>
          <p:nvPr/>
        </p:nvSpPr>
        <p:spPr>
          <a:xfrm>
            <a:off x="8229600" y="4590288"/>
            <a:ext cx="219456" cy="219456"/>
          </a:xfrm>
          <a:prstGeom prst="ellipse">
            <a:avLst/>
          </a:prstGeom>
          <a:solidFill>
            <a:srgbClr val="0C73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4590288"/>
            <a:ext cx="21945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10" b="1">
                <a:solidFill>
                  <a:srgbClr val="25D6D2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13648" y="4572000"/>
            <a:ext cx="26700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>
                <a:solidFill>
                  <a:srgbClr val="F7FBFF"/>
                </a:solidFill>
                <a:latin typeface="Aptos"/>
              </a:rPr>
              <a:t>Approvals + task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GO-TO-MARKET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10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50 design partners → платные клиенты → повторяемый канал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8992" y="2441448"/>
            <a:ext cx="9820656" cy="0"/>
          </a:xfrm>
          <a:prstGeom prst="line">
            <a:avLst/>
          </a:prstGeom>
          <a:ln w="2540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969264" y="2267712"/>
            <a:ext cx="347472" cy="347472"/>
          </a:xfrm>
          <a:prstGeom prst="ellipse">
            <a:avLst/>
          </a:prstGeom>
          <a:solidFill>
            <a:srgbClr val="061321"/>
          </a:solidFill>
          <a:ln w="2540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810512"/>
            <a:ext cx="2103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5D6D2"/>
                </a:solidFill>
                <a:latin typeface="Aptos"/>
              </a:rPr>
              <a:t>0–6 МЕС.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2807208"/>
            <a:ext cx="3465576" cy="1874519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3063240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25D6D2"/>
                </a:solidFill>
                <a:latin typeface="Aptos"/>
              </a:rPr>
              <a:t>DESIGN 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3502152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F7FBFF"/>
                </a:solidFill>
                <a:latin typeface="Aptos Display"/>
              </a:rPr>
              <a:t>50 пилотных компаний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059936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92A8BC"/>
                </a:solidFill>
                <a:latin typeface="Aptos"/>
              </a:rPr>
              <a:t>Founder-led sales · concierge onboarding</a:t>
            </a:r>
          </a:p>
        </p:txBody>
      </p:sp>
      <p:sp>
        <p:nvSpPr>
          <p:cNvPr id="16" name="Oval 15"/>
          <p:cNvSpPr/>
          <p:nvPr/>
        </p:nvSpPr>
        <p:spPr>
          <a:xfrm>
            <a:off x="4700016" y="2267712"/>
            <a:ext cx="347472" cy="347472"/>
          </a:xfrm>
          <a:prstGeom prst="ellipse">
            <a:avLst/>
          </a:prstGeom>
          <a:solidFill>
            <a:srgbClr val="061321"/>
          </a:solidFill>
          <a:ln w="2540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61104" y="1810512"/>
            <a:ext cx="2103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5D7CFF"/>
                </a:solidFill>
                <a:latin typeface="Aptos"/>
              </a:rPr>
              <a:t>6–18 МЕС.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61104" y="2807208"/>
            <a:ext cx="3465576" cy="1874519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063240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5D7CFF"/>
                </a:solidFill>
                <a:latin typeface="Aptos"/>
              </a:rPr>
              <a:t>REPEATABLE WEDGE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502152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F7FBFF"/>
                </a:solidFill>
                <a:latin typeface="Aptos Display"/>
              </a:rPr>
              <a:t>Service SMBs · RU + 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059936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92A8BC"/>
                </a:solidFill>
                <a:latin typeface="Aptos"/>
              </a:rPr>
              <a:t>Templates · referrals · agencies</a:t>
            </a:r>
          </a:p>
        </p:txBody>
      </p:sp>
      <p:sp>
        <p:nvSpPr>
          <p:cNvPr id="22" name="Oval 21"/>
          <p:cNvSpPr/>
          <p:nvPr/>
        </p:nvSpPr>
        <p:spPr>
          <a:xfrm>
            <a:off x="8430768" y="2267712"/>
            <a:ext cx="347472" cy="347472"/>
          </a:xfrm>
          <a:prstGeom prst="ellipse">
            <a:avLst/>
          </a:prstGeom>
          <a:solidFill>
            <a:srgbClr val="061321"/>
          </a:solidFill>
          <a:ln w="2540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91856" y="1810512"/>
            <a:ext cx="21031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A9F06A"/>
                </a:solidFill>
                <a:latin typeface="Aptos"/>
              </a:rPr>
              <a:t>SCALE GATE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91856" y="2807208"/>
            <a:ext cx="3465576" cy="1874519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063240"/>
            <a:ext cx="29077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A9F06A"/>
                </a:solidFill>
                <a:latin typeface="Aptos"/>
              </a:rPr>
              <a:t>RETENTION + ECONOMICS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502152"/>
            <a:ext cx="290779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1">
                <a:solidFill>
                  <a:srgbClr val="F7FBFF"/>
                </a:solidFill>
                <a:latin typeface="Aptos Display"/>
              </a:rPr>
              <a:t>Weekly value до paid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059936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>
                <a:solidFill>
                  <a:srgbClr val="92A8BC"/>
                </a:solidFill>
                <a:latin typeface="Aptos"/>
              </a:rPr>
              <a:t>Paid conversion · retention · CAC payback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" y="5084064"/>
            <a:ext cx="11128248" cy="713232"/>
          </a:xfrm>
          <a:prstGeom prst="roundRect">
            <a:avLst>
              <a:gd name="adj" fmla="val 12000"/>
            </a:avLst>
          </a:prstGeom>
          <a:solidFill>
            <a:srgbClr val="03101B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330952"/>
            <a:ext cx="120700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>
                <a:solidFill>
                  <a:srgbClr val="25D6D2"/>
                </a:solidFill>
                <a:latin typeface="Aptos"/>
              </a:rPr>
              <a:t>GROWTH LOOP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75688" y="5266944"/>
            <a:ext cx="907999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0" b="1">
                <a:solidFill>
                  <a:srgbClr val="F7FBFF"/>
                </a:solidFill>
                <a:latin typeface="Aptos"/>
              </a:rPr>
              <a:t>Template → быстрый результат → кейс → рекомендация → новый template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ЦЕЛИ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36 месяцев до 10,000 платящих компаний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72768"/>
            <a:ext cx="2395728" cy="292608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581912"/>
            <a:ext cx="2395728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>
                <a:solidFill>
                  <a:srgbClr val="F4C95D"/>
                </a:solidFill>
                <a:latin typeface="Aptos"/>
              </a:rPr>
              <a:t>ПЛАН · НЕ ТЕКУЩИЕ РЕЗУЛЬТАТЫ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051560" y="2542032"/>
            <a:ext cx="9921240" cy="0"/>
          </a:xfrm>
          <a:prstGeom prst="line">
            <a:avLst/>
          </a:prstGeom>
          <a:ln w="2794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914400" y="2350008"/>
            <a:ext cx="384048" cy="384048"/>
          </a:xfrm>
          <a:prstGeom prst="ellipse">
            <a:avLst/>
          </a:prstGeom>
          <a:solidFill>
            <a:srgbClr val="061321"/>
          </a:solidFill>
          <a:ln w="27940">
            <a:solidFill>
              <a:srgbClr val="25D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874519"/>
            <a:ext cx="13533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25D6D2"/>
                </a:solidFill>
                <a:latin typeface="Aptos"/>
              </a:rPr>
              <a:t>0–6 мес.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980944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BFF"/>
                </a:solidFill>
                <a:latin typeface="Aptos Display"/>
              </a:rPr>
              <a:t>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648456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879C"/>
                </a:solidFill>
                <a:latin typeface="Aptos"/>
              </a:rPr>
              <a:t>платящих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30352" y="4087368"/>
            <a:ext cx="2377440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30352" y="4352544"/>
            <a:ext cx="2432304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92A8BC"/>
                </a:solidFill>
                <a:latin typeface="Aptos"/>
              </a:rPr>
              <a:t>50 pilots → paid
TTFV &lt; 15 мин</a:t>
            </a:r>
          </a:p>
        </p:txBody>
      </p:sp>
      <p:sp>
        <p:nvSpPr>
          <p:cNvPr id="18" name="Oval 17"/>
          <p:cNvSpPr/>
          <p:nvPr/>
        </p:nvSpPr>
        <p:spPr>
          <a:xfrm>
            <a:off x="3694176" y="2350008"/>
            <a:ext cx="384048" cy="384048"/>
          </a:xfrm>
          <a:prstGeom prst="ellipse">
            <a:avLst/>
          </a:prstGeom>
          <a:solidFill>
            <a:srgbClr val="061321"/>
          </a:solidFill>
          <a:ln w="27940">
            <a:solidFill>
              <a:srgbClr val="5D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10128" y="1874519"/>
            <a:ext cx="13533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5D7CFF"/>
                </a:solidFill>
                <a:latin typeface="Aptos"/>
              </a:rPr>
              <a:t>6–12 мес.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2980944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BFF"/>
                </a:solidFill>
                <a:latin typeface="Aptos Display"/>
              </a:rPr>
              <a:t>1,000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648456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879C"/>
                </a:solidFill>
                <a:latin typeface="Aptos"/>
              </a:rPr>
              <a:t>платящих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087368"/>
            <a:ext cx="2377440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352544"/>
            <a:ext cx="2432304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92A8BC"/>
                </a:solidFill>
                <a:latin typeface="Aptos"/>
              </a:rPr>
              <a:t>retention signal
$1.5–2M ARR</a:t>
            </a:r>
          </a:p>
        </p:txBody>
      </p:sp>
      <p:sp>
        <p:nvSpPr>
          <p:cNvPr id="24" name="Oval 23"/>
          <p:cNvSpPr/>
          <p:nvPr/>
        </p:nvSpPr>
        <p:spPr>
          <a:xfrm>
            <a:off x="6473952" y="2350008"/>
            <a:ext cx="384048" cy="384048"/>
          </a:xfrm>
          <a:prstGeom prst="ellipse">
            <a:avLst/>
          </a:prstGeom>
          <a:solidFill>
            <a:srgbClr val="061321"/>
          </a:solidFill>
          <a:ln w="27940">
            <a:solidFill>
              <a:srgbClr val="8B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9904" y="1874519"/>
            <a:ext cx="13533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8B6DFF"/>
                </a:solidFill>
                <a:latin typeface="Aptos"/>
              </a:rPr>
              <a:t>12–24 мес.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9904" y="2980944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BFF"/>
                </a:solidFill>
                <a:latin typeface="Aptos Display"/>
              </a:rPr>
              <a:t>5,000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9904" y="3648456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879C"/>
                </a:solidFill>
                <a:latin typeface="Aptos"/>
              </a:rPr>
              <a:t>платящих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089904" y="4087368"/>
            <a:ext cx="2377440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089904" y="4352544"/>
            <a:ext cx="2432304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92A8BC"/>
                </a:solidFill>
                <a:latin typeface="Aptos"/>
              </a:rPr>
              <a:t>repeatable acquisition
$8–10M ARR</a:t>
            </a:r>
          </a:p>
        </p:txBody>
      </p:sp>
      <p:sp>
        <p:nvSpPr>
          <p:cNvPr id="30" name="Oval 29"/>
          <p:cNvSpPr/>
          <p:nvPr/>
        </p:nvSpPr>
        <p:spPr>
          <a:xfrm>
            <a:off x="9253728" y="2350008"/>
            <a:ext cx="384048" cy="384048"/>
          </a:xfrm>
          <a:prstGeom prst="ellipse">
            <a:avLst/>
          </a:prstGeom>
          <a:solidFill>
            <a:srgbClr val="061321"/>
          </a:solidFill>
          <a:ln w="27940">
            <a:solidFill>
              <a:srgbClr val="A9F0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69680" y="1874519"/>
            <a:ext cx="135331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A9F06A"/>
                </a:solidFill>
                <a:latin typeface="Aptos"/>
              </a:rPr>
              <a:t>24–36 мес.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980944"/>
            <a:ext cx="246888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7FBFF"/>
                </a:solidFill>
                <a:latin typeface="Aptos Display"/>
              </a:rPr>
              <a:t>10,000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3648456"/>
            <a:ext cx="24688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6F879C"/>
                </a:solidFill>
                <a:latin typeface="Aptos"/>
              </a:rPr>
              <a:t>платящих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869680" y="4087368"/>
            <a:ext cx="2377440" cy="0"/>
          </a:xfrm>
          <a:prstGeom prst="line">
            <a:avLst/>
          </a:prstGeom>
          <a:ln w="10160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869680" y="4352544"/>
            <a:ext cx="2432304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>
                <a:solidFill>
                  <a:srgbClr val="92A8BC"/>
                </a:solidFill>
                <a:latin typeface="Aptos"/>
              </a:rPr>
              <a:t>$18M ARR
0.29% от SAM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0352" y="5715000"/>
            <a:ext cx="11128248" cy="384048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5824728"/>
            <a:ext cx="1067104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92A8BC"/>
                </a:solidFill>
                <a:latin typeface="Aptos"/>
              </a:rPr>
              <a:t>Scale gates: TTFV &lt;15 мин  ·  6-month retention ≥80%  ·  CAC payback &lt;6 мес.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30352"/>
            <a:ext cx="13898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94392" y="521207"/>
            <a:ext cx="1417320" cy="292608"/>
          </a:xfrm>
          <a:prstGeom prst="roundRect">
            <a:avLst>
              <a:gd name="adj" fmla="val 12000"/>
            </a:avLst>
          </a:prstGeom>
          <a:solidFill>
            <a:srgbClr val="102A42"/>
          </a:solidFill>
          <a:ln w="1016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94392" y="530352"/>
            <a:ext cx="1417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A9F06A"/>
                </a:solidFill>
                <a:latin typeface="Aptos"/>
              </a:rPr>
              <a:t>VISION ·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8732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7FBFF"/>
                </a:solidFill>
                <a:latin typeface="Aptos Display"/>
              </a:rPr>
              <a:t>Сделать AI-команду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85416"/>
            <a:ext cx="8732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F7FBFF"/>
                </a:solidFill>
                <a:latin typeface="Aptos Display"/>
              </a:rPr>
              <a:t>стандартом для каждого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16352"/>
            <a:ext cx="75438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25D6D2"/>
                </a:solidFill>
                <a:latin typeface="Aptos Display"/>
              </a:rPr>
              <a:t>малого бизнеса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813048"/>
            <a:ext cx="6949440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>
                <a:solidFill>
                  <a:srgbClr val="92A8BC"/>
                </a:solidFill>
                <a:latin typeface="Aptos"/>
              </a:rPr>
              <a:t>Не ещё один инструмент — рабочая среда, которая превращает идеи в действия.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55464"/>
            <a:ext cx="10817352" cy="914400"/>
          </a:xfrm>
          <a:prstGeom prst="roundRect">
            <a:avLst>
              <a:gd name="adj" fmla="val 12000"/>
            </a:avLst>
          </a:prstGeom>
          <a:solidFill>
            <a:srgbClr val="0B2033"/>
          </a:solidFill>
          <a:ln w="12700">
            <a:solidFill>
              <a:srgbClr val="0C73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5166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>
                <a:solidFill>
                  <a:srgbClr val="25D6D2"/>
                </a:solidFill>
                <a:latin typeface="Aptos"/>
              </a:rPr>
              <a:t>БЛИЖАЙШИЙ ШАГ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5084064"/>
            <a:ext cx="8046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7FBFF"/>
                </a:solidFill>
                <a:latin typeface="Aptos Display"/>
              </a:rPr>
              <a:t>50 design partners → доказать ROI → масштабировать acquisition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65208" y="6245352"/>
            <a:ext cx="171907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6F879C"/>
                </a:solidFill>
                <a:latin typeface="Aptos"/>
              </a:rPr>
              <a:t>teamora.ai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32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amora-cosmic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61321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24688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>
                <a:solidFill>
                  <a:srgbClr val="25D6D2"/>
                </a:solidFill>
                <a:latin typeface="Aptos"/>
              </a:rPr>
              <a:t>TEAMORA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5648" y="2468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6F879C"/>
                </a:solidFill>
                <a:latin typeface="Aptos"/>
              </a:rPr>
              <a:t>ПРИЛОЖЕНИЕ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37392" y="24688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F879C"/>
                </a:solidFill>
                <a:latin typeface="Aptos"/>
              </a:rPr>
              <a:t>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30352" y="585216"/>
            <a:ext cx="11128248" cy="0"/>
          </a:xfrm>
          <a:prstGeom prst="line">
            <a:avLst/>
          </a:prstGeom>
          <a:ln w="952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30352" y="804672"/>
            <a:ext cx="11064240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7FBFF"/>
                </a:solidFill>
                <a:latin typeface="Aptos Display"/>
              </a:rPr>
              <a:t>Источники и ключевые допущения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D6D2"/>
                </a:solidFill>
                <a:latin typeface="Aptos"/>
              </a:rPr>
              <a:t>ПОДТВЕРЖДЁННЫЕ ДАННЫЕ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396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21214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World Bank · SME 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12140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92A8BC"/>
                </a:solidFill>
                <a:latin typeface="Aptos"/>
              </a:rPr>
              <a:t>SMEs ≈90% компаний и &gt;50% занятости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2569463"/>
            <a:ext cx="5138928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28254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28072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U.S. SBA · 2024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80720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92A8BC"/>
                </a:solidFill>
                <a:latin typeface="Aptos"/>
              </a:rPr>
              <a:t>34.8M малых бизнесов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3255263"/>
            <a:ext cx="5138928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35112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" y="34930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EC / JRC · SMEs 2025/26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349300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92A8BC"/>
                </a:solidFill>
                <a:latin typeface="Aptos"/>
              </a:rPr>
              <a:t>34.0M SMEs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3941063"/>
            <a:ext cx="5138928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41970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" y="41788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Reuters / Gartner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417880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92A8BC"/>
                </a:solidFill>
                <a:latin typeface="Aptos"/>
              </a:rPr>
              <a:t>Agentic AI adoption + cancellation risk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66928" y="4626864"/>
            <a:ext cx="5138928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48828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25D6D2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984" y="48646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Product pages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864608"/>
            <a:ext cx="1920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92A8BC"/>
                </a:solidFill>
                <a:latin typeface="Aptos"/>
              </a:rPr>
              <a:t>Relevance AI · Zapier Agents · Lindy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5312664"/>
            <a:ext cx="5138928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163056" y="1719072"/>
            <a:ext cx="4114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8B6DFF"/>
                </a:solidFill>
                <a:latin typeface="Aptos"/>
              </a:rPr>
              <a:t>ДОПУЩЕНИЯ МОДЕЛИ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63056" y="2121408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8B6DFF"/>
                </a:solidFill>
                <a:latin typeface="Aptos"/>
              </a:rPr>
              <a:t>DIGITAL FIT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62672" y="2121408"/>
            <a:ext cx="3886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20% базы США + ЕС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163056" y="2569463"/>
            <a:ext cx="5385816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163056" y="2807208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8B6DFF"/>
                </a:solidFill>
                <a:latin typeface="Aptos"/>
              </a:rPr>
              <a:t>BLENDED ARPA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2" y="2807208"/>
            <a:ext cx="3886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$1,800 / год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163056" y="3255263"/>
            <a:ext cx="5385816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163056" y="3493008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8B6DFF"/>
                </a:solidFill>
                <a:latin typeface="Aptos"/>
              </a:rPr>
              <a:t>SAM FILTER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62672" y="3493008"/>
            <a:ext cx="3886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25% TAM-fit компаний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163056" y="3941063"/>
            <a:ext cx="5385816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163056" y="4178808"/>
            <a:ext cx="14447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8B6DFF"/>
                </a:solidFill>
                <a:latin typeface="Aptos"/>
              </a:rPr>
              <a:t>SOM TARGET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62672" y="4178808"/>
            <a:ext cx="3886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>
                <a:solidFill>
                  <a:srgbClr val="F7FBFF"/>
                </a:solidFill>
                <a:latin typeface="Aptos"/>
              </a:rPr>
              <a:t>10,000 клиентов за 36 мес.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163056" y="4626864"/>
            <a:ext cx="5385816" cy="0"/>
          </a:xfrm>
          <a:prstGeom prst="line">
            <a:avLst/>
          </a:prstGeom>
          <a:ln w="8255">
            <a:solidFill>
              <a:srgbClr val="1B3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30352" y="5788152"/>
            <a:ext cx="11128248" cy="402336"/>
          </a:xfrm>
          <a:prstGeom prst="roundRect">
            <a:avLst>
              <a:gd name="adj" fmla="val 12000"/>
            </a:avLst>
          </a:prstGeom>
          <a:solidFill>
            <a:srgbClr val="03101B"/>
          </a:solidFill>
          <a:ln w="12700">
            <a:solidFill>
              <a:srgbClr val="1B3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5907024"/>
            <a:ext cx="106161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6F879C"/>
                </a:solidFill>
                <a:latin typeface="Aptos"/>
              </a:rPr>
              <a:t>Planning scenario на 14.07.2026 · не оценка компании и не прогноз фактической выручки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Teamora AI — Investor Deck 2026</dc:title>
  <dc:subject>AI office for small business</dc:subject>
  <dc:creator>Teamora AI</dc:creator>
  <cp:keywords>Teamora, AI office, investor deck, SMB</cp:keywords>
  <dc:description>Redesigned and condensed investor deck. Planning targets are not current results.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